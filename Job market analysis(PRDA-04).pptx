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1" r:id="rId12"/>
    <p:sldId id="272" r:id="rId13"/>
    <p:sldId id="268" r:id="rId14"/>
    <p:sldId id="278" r:id="rId15"/>
    <p:sldId id="270" r:id="rId16"/>
    <p:sldId id="273" r:id="rId17"/>
    <p:sldId id="274" r:id="rId18"/>
    <p:sldId id="279" r:id="rId19"/>
    <p:sldId id="275" r:id="rId20"/>
    <p:sldId id="276" r:id="rId21"/>
    <p:sldId id="277"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135AC-D8B3-25F2-8EF6-3C29B00163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2843D7-7A4A-A34D-90DE-74987CDFAF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906C3B-1942-4EE8-F203-F4BC07575339}"/>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5" name="Footer Placeholder 4">
            <a:extLst>
              <a:ext uri="{FF2B5EF4-FFF2-40B4-BE49-F238E27FC236}">
                <a16:creationId xmlns:a16="http://schemas.microsoft.com/office/drawing/2014/main" id="{335B11AB-04EF-2A54-54B9-9162E102BE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DB1035-FE00-424C-692C-CEDEF9527EA3}"/>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1802041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4E0FB-1DE7-9633-0C13-D2986DD6F5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927E3C-6CD7-0A68-9941-27E3EEFEA5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813235-A7C7-4040-1970-07DBC39484BB}"/>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5" name="Footer Placeholder 4">
            <a:extLst>
              <a:ext uri="{FF2B5EF4-FFF2-40B4-BE49-F238E27FC236}">
                <a16:creationId xmlns:a16="http://schemas.microsoft.com/office/drawing/2014/main" id="{0CB74380-2FFE-B93C-22A1-2D59E97929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7FFCB3-612D-D275-7CA0-03579A563407}"/>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1261591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F9E3F-7189-E7C9-702B-CBF93BE3E39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01E15F-46F8-F437-5214-379E60D26B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A8B9E97-F033-D6A9-8493-DCEACD61760E}"/>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5" name="Footer Placeholder 4">
            <a:extLst>
              <a:ext uri="{FF2B5EF4-FFF2-40B4-BE49-F238E27FC236}">
                <a16:creationId xmlns:a16="http://schemas.microsoft.com/office/drawing/2014/main" id="{EBD0343F-18E0-8C9D-6FEB-F7C133DDAD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9A132D-D2D7-F8F8-C5DC-53BD73B9381D}"/>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40854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A6E35-CB84-EE96-A4C2-1DAAD0FF18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D6BCDF-7108-246D-2959-C7B7D478224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860884-34C9-3428-694F-56309DC768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A79720-38D4-E123-937F-691F540A9276}"/>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6" name="Footer Placeholder 5">
            <a:extLst>
              <a:ext uri="{FF2B5EF4-FFF2-40B4-BE49-F238E27FC236}">
                <a16:creationId xmlns:a16="http://schemas.microsoft.com/office/drawing/2014/main" id="{BCC52421-6AB4-7BE2-594A-AE12A31306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A6D0AD-F0EC-3CAE-8083-25E0D629F156}"/>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2115992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E3441-1952-32FD-3988-B413EAB1923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F278A4-F0EA-7B0A-8137-DC4295BEF1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6B3D39-D668-1A4F-AA9C-96D911099D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F7DF57-AEA4-626A-5A33-A084F92F11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5D5967-A1B9-67BB-13E2-8C80C6621B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BDC8F95-A70D-4218-68D0-DA23E9A17533}"/>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8" name="Footer Placeholder 7">
            <a:extLst>
              <a:ext uri="{FF2B5EF4-FFF2-40B4-BE49-F238E27FC236}">
                <a16:creationId xmlns:a16="http://schemas.microsoft.com/office/drawing/2014/main" id="{751483B5-3D9F-02FC-419E-38BC589C59E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12335E-A45E-1869-662F-35BA3560A7A8}"/>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3331940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635F2-E817-1CE1-2D2A-4CB757A992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B5B2C9-1A97-ED46-ABFE-6EBB0E2B16A5}"/>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4" name="Footer Placeholder 3">
            <a:extLst>
              <a:ext uri="{FF2B5EF4-FFF2-40B4-BE49-F238E27FC236}">
                <a16:creationId xmlns:a16="http://schemas.microsoft.com/office/drawing/2014/main" id="{025C585A-5FC2-7BBD-B6E4-44809BB751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948CB77-F1D5-2749-CB1E-358121350A7B}"/>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21822102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4DCC38-E28C-497D-5257-70CDEF30A0F2}"/>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3" name="Footer Placeholder 2">
            <a:extLst>
              <a:ext uri="{FF2B5EF4-FFF2-40B4-BE49-F238E27FC236}">
                <a16:creationId xmlns:a16="http://schemas.microsoft.com/office/drawing/2014/main" id="{27FD86EA-A7AC-2A55-BF4C-749116DB61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BA0F1E-3B07-8ADA-6C6B-D913D886D4F9}"/>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2713515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3A5A8-CADF-B0AF-28E6-033F4E3CB5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B21A8F6-F117-84D7-326F-76C877D73A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A655AA9-BFDF-A192-22C2-231D4E0D17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6E006A-B99B-9732-3F91-E8010BE49BBA}"/>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6" name="Footer Placeholder 5">
            <a:extLst>
              <a:ext uri="{FF2B5EF4-FFF2-40B4-BE49-F238E27FC236}">
                <a16:creationId xmlns:a16="http://schemas.microsoft.com/office/drawing/2014/main" id="{2A6142D5-33B5-0C96-BE86-643AD297F2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D3AC76-D982-343A-FA7D-EA1DBB9CF320}"/>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569942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08AF9-C4E3-4174-C6A8-EC531653E1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181F26-EAC7-9986-1E4A-5D6E1859A1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7065B8D-D62A-3AD0-46D3-27A84882B3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FCABD8-96F4-704F-3F4B-B43DB5A6B2BA}"/>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6" name="Footer Placeholder 5">
            <a:extLst>
              <a:ext uri="{FF2B5EF4-FFF2-40B4-BE49-F238E27FC236}">
                <a16:creationId xmlns:a16="http://schemas.microsoft.com/office/drawing/2014/main" id="{14665C0F-1EAC-A5F0-5F24-3DA6D8C329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31492B-F2BF-F332-C46C-1B4A6023EAE9}"/>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1789369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F2547-B4C1-6D7A-F5CD-3FF4C5A003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6CF351-A8FD-21E7-0962-56A796DC23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CAB4DF-74EE-D8CE-7D8A-93EB3BA41F77}"/>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5" name="Footer Placeholder 4">
            <a:extLst>
              <a:ext uri="{FF2B5EF4-FFF2-40B4-BE49-F238E27FC236}">
                <a16:creationId xmlns:a16="http://schemas.microsoft.com/office/drawing/2014/main" id="{D8C997FB-0C40-FAEE-1D85-180ED54B4B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AE2B2-AB2F-BB06-84F2-43BC2569D50A}"/>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2092112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261250-8C20-1C56-9037-55BCFFDEB2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549924-FF45-9E13-B6D3-B73F45512A7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3934EC-38C0-99CC-1CFA-4393378756D8}"/>
              </a:ext>
            </a:extLst>
          </p:cNvPr>
          <p:cNvSpPr>
            <a:spLocks noGrp="1"/>
          </p:cNvSpPr>
          <p:nvPr>
            <p:ph type="dt" sz="half" idx="10"/>
          </p:nvPr>
        </p:nvSpPr>
        <p:spPr/>
        <p:txBody>
          <a:bodyPr/>
          <a:lstStyle/>
          <a:p>
            <a:fld id="{062CF267-B073-4935-A185-2F881FE3A910}" type="datetimeFigureOut">
              <a:rPr lang="en-US" smtClean="0"/>
              <a:t>2/5/2026</a:t>
            </a:fld>
            <a:endParaRPr lang="en-US"/>
          </a:p>
        </p:txBody>
      </p:sp>
      <p:sp>
        <p:nvSpPr>
          <p:cNvPr id="5" name="Footer Placeholder 4">
            <a:extLst>
              <a:ext uri="{FF2B5EF4-FFF2-40B4-BE49-F238E27FC236}">
                <a16:creationId xmlns:a16="http://schemas.microsoft.com/office/drawing/2014/main" id="{139470E0-8FA7-D567-6179-2CCAA569D8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B2D721-5B87-67A0-6947-9BE439326170}"/>
              </a:ext>
            </a:extLst>
          </p:cNvPr>
          <p:cNvSpPr>
            <a:spLocks noGrp="1"/>
          </p:cNvSpPr>
          <p:nvPr>
            <p:ph type="sldNum" sz="quarter" idx="12"/>
          </p:nvPr>
        </p:nvSpPr>
        <p:spPr/>
        <p:txBody>
          <a:bodyPr/>
          <a:lstStyle/>
          <a:p>
            <a:fld id="{CE1570CC-F8DC-44F4-A7F0-BA2ACC6A53B0}" type="slidenum">
              <a:rPr lang="en-US" smtClean="0"/>
              <a:t>‹#›</a:t>
            </a:fld>
            <a:endParaRPr lang="en-US"/>
          </a:p>
        </p:txBody>
      </p:sp>
    </p:spTree>
    <p:extLst>
      <p:ext uri="{BB962C8B-B14F-4D97-AF65-F5344CB8AC3E}">
        <p14:creationId xmlns:p14="http://schemas.microsoft.com/office/powerpoint/2010/main" val="33861793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9D0FEA-C21B-B297-DA4D-998654F71F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4ED843E-ECBA-8863-C401-B98C88D6D3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426C1-9179-63C2-2051-CF6B8D6902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2CF267-B073-4935-A185-2F881FE3A910}" type="datetimeFigureOut">
              <a:rPr lang="en-US" smtClean="0"/>
              <a:t>2/5/2026</a:t>
            </a:fld>
            <a:endParaRPr lang="en-US"/>
          </a:p>
        </p:txBody>
      </p:sp>
      <p:sp>
        <p:nvSpPr>
          <p:cNvPr id="5" name="Footer Placeholder 4">
            <a:extLst>
              <a:ext uri="{FF2B5EF4-FFF2-40B4-BE49-F238E27FC236}">
                <a16:creationId xmlns:a16="http://schemas.microsoft.com/office/drawing/2014/main" id="{22C5B6E5-A2FD-7821-5543-D5018ABCA55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001802-0F15-9A80-1764-A7C5CD98E1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1570CC-F8DC-44F4-A7F0-BA2ACC6A53B0}" type="slidenum">
              <a:rPr lang="en-US" smtClean="0"/>
              <a:t>‹#›</a:t>
            </a:fld>
            <a:endParaRPr lang="en-US"/>
          </a:p>
        </p:txBody>
      </p:sp>
    </p:spTree>
    <p:extLst>
      <p:ext uri="{BB962C8B-B14F-4D97-AF65-F5344CB8AC3E}">
        <p14:creationId xmlns:p14="http://schemas.microsoft.com/office/powerpoint/2010/main" val="8223583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15DAD-A790-AD60-10C0-A16543BEA89B}"/>
              </a:ext>
            </a:extLst>
          </p:cNvPr>
          <p:cNvSpPr>
            <a:spLocks noGrp="1"/>
          </p:cNvSpPr>
          <p:nvPr>
            <p:ph type="ctrTitle"/>
          </p:nvPr>
        </p:nvSpPr>
        <p:spPr>
          <a:xfrm>
            <a:off x="1524000" y="787400"/>
            <a:ext cx="9144000" cy="5283200"/>
          </a:xfrm>
        </p:spPr>
        <p:txBody>
          <a:bodyPr>
            <a:normAutofit/>
          </a:bodyPr>
          <a:lstStyle/>
          <a:p>
            <a:r>
              <a:rPr lang="en-US" sz="4900"/>
              <a:t>Job market analysis(PRDA-04)</a:t>
            </a:r>
            <a:br>
              <a:rPr lang="en-US" sz="4900"/>
            </a:br>
            <a:br>
              <a:rPr lang="en-US" sz="1800"/>
            </a:br>
            <a:r>
              <a:rPr lang="en-US" sz="3100"/>
              <a:t>Submitted by:</a:t>
            </a:r>
            <a:br>
              <a:rPr lang="en-US" sz="3100"/>
            </a:br>
            <a:r>
              <a:rPr lang="en-US" sz="3100"/>
              <a:t>Laxmi Kaddoni</a:t>
            </a:r>
            <a:br>
              <a:rPr lang="en-US" sz="3100"/>
            </a:br>
            <a:br>
              <a:rPr lang="en-US" sz="3100"/>
            </a:br>
            <a:r>
              <a:rPr lang="en-US" sz="3100"/>
              <a:t>Tools Used:</a:t>
            </a:r>
            <a:br>
              <a:rPr lang="en-US" sz="3100"/>
            </a:br>
            <a:r>
              <a:rPr lang="en-US" sz="3100"/>
              <a:t>mysql | jupyter Notebook | Power BI</a:t>
            </a:r>
            <a:br>
              <a:rPr lang="en-US" sz="1800"/>
            </a:br>
            <a:br>
              <a:rPr lang="en-US" sz="1800"/>
            </a:br>
            <a:br>
              <a:rPr lang="en-US" sz="1800"/>
            </a:br>
            <a:br>
              <a:rPr lang="en-US" sz="1800"/>
            </a:br>
            <a:br>
              <a:rPr lang="en-US" sz="1800"/>
            </a:br>
            <a:br>
              <a:rPr lang="en-US" sz="1800"/>
            </a:br>
            <a:endParaRPr lang="en-US" sz="1800"/>
          </a:p>
        </p:txBody>
      </p:sp>
    </p:spTree>
    <p:extLst>
      <p:ext uri="{BB962C8B-B14F-4D97-AF65-F5344CB8AC3E}">
        <p14:creationId xmlns:p14="http://schemas.microsoft.com/office/powerpoint/2010/main" val="1221720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9E06759-8B10-5626-3F5E-55738F93B8E0}"/>
              </a:ext>
            </a:extLst>
          </p:cNvPr>
          <p:cNvSpPr>
            <a:spLocks noGrp="1"/>
          </p:cNvSpPr>
          <p:nvPr>
            <p:ph idx="1"/>
          </p:nvPr>
        </p:nvSpPr>
        <p:spPr>
          <a:xfrm>
            <a:off x="838200" y="568960"/>
            <a:ext cx="10515600" cy="5608003"/>
          </a:xfrm>
        </p:spPr>
        <p:txBody>
          <a:bodyPr>
            <a:normAutofit/>
          </a:bodyPr>
          <a:lstStyle/>
          <a:p>
            <a:pPr marL="0" indent="0">
              <a:buNone/>
            </a:pPr>
            <a:r>
              <a:rPr lang="en-US" b="1"/>
              <a:t>1. Introduction</a:t>
            </a:r>
          </a:p>
          <a:p>
            <a:pPr marL="0" indent="0">
              <a:buNone/>
            </a:pPr>
            <a:r>
              <a:rPr lang="en-US" sz="2000"/>
              <a:t>This project focuses on analyzing job market trends related to Data Science and similar roles. The dataset contains information about job titles, salaries, companies, locations, skills, and educational requirements. The main aim is to help job seekers and employers understand current market demands.</a:t>
            </a:r>
          </a:p>
          <a:p>
            <a:pPr marL="0" indent="0">
              <a:buNone/>
            </a:pPr>
            <a:endParaRPr lang="en-US" sz="2000"/>
          </a:p>
          <a:p>
            <a:pPr marL="0" indent="0">
              <a:buNone/>
            </a:pPr>
            <a:r>
              <a:rPr lang="en-US" b="1"/>
              <a:t>2. Objectives</a:t>
            </a:r>
          </a:p>
          <a:p>
            <a:r>
              <a:rPr lang="en-US" sz="2000"/>
              <a:t>To analyze state-wise job distribution.</a:t>
            </a:r>
          </a:p>
          <a:p>
            <a:r>
              <a:rPr lang="en-US" sz="2000"/>
              <a:t>To study salary patterns across locations and roles.</a:t>
            </a:r>
          </a:p>
          <a:p>
            <a:r>
              <a:rPr lang="en-US" sz="2000"/>
              <a:t>To identify in-demand skills.</a:t>
            </a:r>
          </a:p>
          <a:p>
            <a:r>
              <a:rPr lang="en-US" sz="2000"/>
              <a:t>To find top hiring companies and industries.</a:t>
            </a:r>
          </a:p>
          <a:p>
            <a:r>
              <a:rPr lang="en-US" sz="2000"/>
              <a:t>To understand the impact of education on salary.</a:t>
            </a:r>
          </a:p>
          <a:p>
            <a:r>
              <a:rPr lang="en-US" sz="2000"/>
              <a:t>To provide useful business and career insights.</a:t>
            </a:r>
          </a:p>
          <a:p>
            <a:endParaRPr lang="en-US"/>
          </a:p>
        </p:txBody>
      </p:sp>
    </p:spTree>
    <p:extLst>
      <p:ext uri="{BB962C8B-B14F-4D97-AF65-F5344CB8AC3E}">
        <p14:creationId xmlns:p14="http://schemas.microsoft.com/office/powerpoint/2010/main" val="32827799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8A4727-98E4-60C0-534E-F60CDB85107E}"/>
              </a:ext>
            </a:extLst>
          </p:cNvPr>
          <p:cNvSpPr>
            <a:spLocks noGrp="1"/>
          </p:cNvSpPr>
          <p:nvPr>
            <p:ph idx="1"/>
          </p:nvPr>
        </p:nvSpPr>
        <p:spPr>
          <a:xfrm>
            <a:off x="716280" y="616584"/>
            <a:ext cx="10515600" cy="5448935"/>
          </a:xfrm>
        </p:spPr>
        <p:txBody>
          <a:bodyPr>
            <a:normAutofit/>
          </a:bodyPr>
          <a:lstStyle/>
          <a:p>
            <a:pPr marL="0" indent="0">
              <a:buNone/>
            </a:pPr>
            <a:r>
              <a:rPr lang="en-US" b="1"/>
              <a:t>3. Dataset Description</a:t>
            </a:r>
          </a:p>
          <a:p>
            <a:r>
              <a:rPr lang="en-US" sz="2400"/>
              <a:t>Source: Online Job Portals</a:t>
            </a:r>
          </a:p>
          <a:p>
            <a:r>
              <a:rPr lang="en-US" sz="2400"/>
              <a:t>Total Records: 742</a:t>
            </a:r>
          </a:p>
          <a:p>
            <a:r>
              <a:rPr lang="en-US" sz="2400"/>
              <a:t>Total Features: 42</a:t>
            </a:r>
          </a:p>
          <a:p>
            <a:r>
              <a:rPr lang="en-US" sz="2400"/>
              <a:t>Important Columns:</a:t>
            </a:r>
          </a:p>
          <a:p>
            <a:pPr lvl="1"/>
            <a:r>
              <a:rPr lang="en-US" sz="2000"/>
              <a:t>Job Title</a:t>
            </a:r>
          </a:p>
          <a:p>
            <a:pPr lvl="1"/>
            <a:r>
              <a:rPr lang="en-US" sz="2000"/>
              <a:t>Salary Estimate</a:t>
            </a:r>
          </a:p>
          <a:p>
            <a:pPr lvl="1"/>
            <a:r>
              <a:rPr lang="en-US" sz="2000"/>
              <a:t>Job Description</a:t>
            </a:r>
          </a:p>
          <a:p>
            <a:pPr lvl="1"/>
            <a:r>
              <a:rPr lang="en-US" sz="2000"/>
              <a:t>Company Name</a:t>
            </a:r>
          </a:p>
          <a:p>
            <a:pPr lvl="1"/>
            <a:r>
              <a:rPr lang="en-US" sz="2000"/>
              <a:t>Location</a:t>
            </a:r>
          </a:p>
          <a:p>
            <a:pPr lvl="1"/>
            <a:r>
              <a:rPr lang="en-US" sz="2000"/>
              <a:t>Industry</a:t>
            </a:r>
          </a:p>
          <a:p>
            <a:pPr lvl="1"/>
            <a:r>
              <a:rPr lang="en-US" sz="2000"/>
              <a:t>Skills (Python, SQL, AWS, etc.)</a:t>
            </a:r>
          </a:p>
          <a:p>
            <a:pPr lvl="1"/>
            <a:r>
              <a:rPr lang="en-US" sz="2000"/>
              <a:t>Degree</a:t>
            </a:r>
          </a:p>
          <a:p>
            <a:pPr marL="0" indent="0">
              <a:buNone/>
            </a:pPr>
            <a:endParaRPr lang="en-US"/>
          </a:p>
        </p:txBody>
      </p:sp>
    </p:spTree>
    <p:extLst>
      <p:ext uri="{BB962C8B-B14F-4D97-AF65-F5344CB8AC3E}">
        <p14:creationId xmlns:p14="http://schemas.microsoft.com/office/powerpoint/2010/main" val="2025892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787780-3FD7-DA06-E3DD-305ECAB35ADD}"/>
              </a:ext>
            </a:extLst>
          </p:cNvPr>
          <p:cNvSpPr>
            <a:spLocks noGrp="1"/>
          </p:cNvSpPr>
          <p:nvPr>
            <p:ph idx="1"/>
          </p:nvPr>
        </p:nvSpPr>
        <p:spPr>
          <a:xfrm>
            <a:off x="838200" y="436880"/>
            <a:ext cx="10515600" cy="5801360"/>
          </a:xfrm>
        </p:spPr>
        <p:txBody>
          <a:bodyPr>
            <a:normAutofit lnSpcReduction="10000"/>
          </a:bodyPr>
          <a:lstStyle/>
          <a:p>
            <a:pPr marL="0" indent="0">
              <a:buNone/>
            </a:pPr>
            <a:r>
              <a:rPr lang="en-US" b="1"/>
              <a:t>4. Tools and Technologies</a:t>
            </a:r>
          </a:p>
          <a:p>
            <a:r>
              <a:rPr lang="en-US" sz="2200"/>
              <a:t>MySQL: Data storage</a:t>
            </a:r>
          </a:p>
          <a:p>
            <a:r>
              <a:rPr lang="en-US" sz="2200"/>
              <a:t>Python: Data analysis</a:t>
            </a:r>
          </a:p>
          <a:p>
            <a:r>
              <a:rPr lang="en-US" sz="2200"/>
              <a:t>Pandas and NumPy: Data processing</a:t>
            </a:r>
          </a:p>
          <a:p>
            <a:r>
              <a:rPr lang="en-US" sz="2200"/>
              <a:t>PowerBI: Data visualization</a:t>
            </a:r>
          </a:p>
          <a:p>
            <a:r>
              <a:rPr lang="en-US" sz="2200"/>
              <a:t>MS PowerPoint: Presentation</a:t>
            </a:r>
          </a:p>
          <a:p>
            <a:pPr marL="0" indent="0">
              <a:buNone/>
            </a:pPr>
            <a:endParaRPr lang="en-US"/>
          </a:p>
          <a:p>
            <a:pPr marL="0" indent="0">
              <a:buNone/>
            </a:pPr>
            <a:r>
              <a:rPr lang="en-US" b="1"/>
              <a:t>5. Project Workflow</a:t>
            </a:r>
          </a:p>
          <a:p>
            <a:r>
              <a:rPr lang="en-US" sz="2000"/>
              <a:t>Data Collection</a:t>
            </a:r>
          </a:p>
          <a:p>
            <a:r>
              <a:rPr lang="en-US" sz="2000"/>
              <a:t>Data Cleaning and Preprocessing</a:t>
            </a:r>
          </a:p>
          <a:p>
            <a:r>
              <a:rPr lang="en-US" sz="2000"/>
              <a:t>Exploratory Data Analysis</a:t>
            </a:r>
          </a:p>
          <a:p>
            <a:r>
              <a:rPr lang="en-US" sz="2000"/>
              <a:t>Visualization</a:t>
            </a:r>
          </a:p>
          <a:p>
            <a:r>
              <a:rPr lang="en-US" sz="2000"/>
              <a:t>Insight Generation</a:t>
            </a:r>
          </a:p>
          <a:p>
            <a:r>
              <a:rPr lang="en-US" sz="2000"/>
              <a:t>Recommendations</a:t>
            </a:r>
          </a:p>
          <a:p>
            <a:pPr marL="0" indent="0">
              <a:buNone/>
            </a:pPr>
            <a:endParaRPr lang="en-US"/>
          </a:p>
        </p:txBody>
      </p:sp>
    </p:spTree>
    <p:extLst>
      <p:ext uri="{BB962C8B-B14F-4D97-AF65-F5344CB8AC3E}">
        <p14:creationId xmlns:p14="http://schemas.microsoft.com/office/powerpoint/2010/main" val="627470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4BB0232-F405-DFCF-7E20-98B46691EE9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33367" y="980605"/>
            <a:ext cx="6449961" cy="3191353"/>
          </a:xfrm>
        </p:spPr>
      </p:pic>
      <p:sp>
        <p:nvSpPr>
          <p:cNvPr id="6" name="TextBox 5">
            <a:extLst>
              <a:ext uri="{FF2B5EF4-FFF2-40B4-BE49-F238E27FC236}">
                <a16:creationId xmlns:a16="http://schemas.microsoft.com/office/drawing/2014/main" id="{800661CF-F56D-B6FB-AA3B-DEDADBC28907}"/>
              </a:ext>
            </a:extLst>
          </p:cNvPr>
          <p:cNvSpPr txBox="1"/>
          <p:nvPr/>
        </p:nvSpPr>
        <p:spPr>
          <a:xfrm>
            <a:off x="471949" y="275303"/>
            <a:ext cx="4149212" cy="400110"/>
          </a:xfrm>
          <a:prstGeom prst="rect">
            <a:avLst/>
          </a:prstGeom>
          <a:noFill/>
        </p:spPr>
        <p:txBody>
          <a:bodyPr wrap="square" rtlCol="0">
            <a:spAutoFit/>
          </a:bodyPr>
          <a:lstStyle/>
          <a:p>
            <a:r>
              <a:rPr lang="en-US" sz="2000" b="1"/>
              <a:t>6. DataBase Schema Verification</a:t>
            </a:r>
          </a:p>
        </p:txBody>
      </p:sp>
      <p:sp>
        <p:nvSpPr>
          <p:cNvPr id="7" name="TextBox 6">
            <a:extLst>
              <a:ext uri="{FF2B5EF4-FFF2-40B4-BE49-F238E27FC236}">
                <a16:creationId xmlns:a16="http://schemas.microsoft.com/office/drawing/2014/main" id="{2042D803-5E64-EF15-9F60-C99135606DFF}"/>
              </a:ext>
            </a:extLst>
          </p:cNvPr>
          <p:cNvSpPr txBox="1"/>
          <p:nvPr/>
        </p:nvSpPr>
        <p:spPr>
          <a:xfrm>
            <a:off x="599768" y="4477151"/>
            <a:ext cx="10520516" cy="1477328"/>
          </a:xfrm>
          <a:prstGeom prst="rect">
            <a:avLst/>
          </a:prstGeom>
          <a:noFill/>
        </p:spPr>
        <p:txBody>
          <a:bodyPr wrap="square" rtlCol="0">
            <a:spAutoFit/>
          </a:bodyPr>
          <a:lstStyle/>
          <a:p>
            <a:r>
              <a:rPr lang="en-US"/>
              <a:t>This screenshot shows the schema view of the MySQL database.</a:t>
            </a:r>
            <a:br>
              <a:rPr lang="en-US"/>
            </a:br>
            <a:r>
              <a:rPr lang="en-US"/>
              <a:t>The database named </a:t>
            </a:r>
            <a:r>
              <a:rPr lang="en-US" b="1"/>
              <a:t>project_job_market_analysis</a:t>
            </a:r>
            <a:r>
              <a:rPr lang="en-US"/>
              <a:t> contains the job market dataset.</a:t>
            </a:r>
            <a:br>
              <a:rPr lang="en-US"/>
            </a:br>
            <a:r>
              <a:rPr lang="en-US"/>
              <a:t>The table </a:t>
            </a:r>
            <a:r>
              <a:rPr lang="en-US" b="1"/>
              <a:t>Market</a:t>
            </a:r>
            <a:r>
              <a:rPr lang="en-US"/>
              <a:t> stores all job-related information such as job title, salary, company name, location, industry, and required skills.</a:t>
            </a:r>
            <a:br>
              <a:rPr lang="en-US"/>
            </a:br>
            <a:r>
              <a:rPr lang="en-US"/>
              <a:t>This step confirms that the dataset is properly organized and ready for further analysis.</a:t>
            </a:r>
          </a:p>
        </p:txBody>
      </p:sp>
    </p:spTree>
    <p:extLst>
      <p:ext uri="{BB962C8B-B14F-4D97-AF65-F5344CB8AC3E}">
        <p14:creationId xmlns:p14="http://schemas.microsoft.com/office/powerpoint/2010/main" val="9866270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ED58C96-E47A-0208-8D0A-A2030FB88FF9}"/>
              </a:ext>
            </a:extLst>
          </p:cNvPr>
          <p:cNvSpPr txBox="1"/>
          <p:nvPr/>
        </p:nvSpPr>
        <p:spPr>
          <a:xfrm>
            <a:off x="491613" y="310240"/>
            <a:ext cx="5014451" cy="400110"/>
          </a:xfrm>
          <a:prstGeom prst="rect">
            <a:avLst/>
          </a:prstGeom>
          <a:noFill/>
        </p:spPr>
        <p:txBody>
          <a:bodyPr wrap="square" rtlCol="0">
            <a:spAutoFit/>
          </a:bodyPr>
          <a:lstStyle/>
          <a:p>
            <a:r>
              <a:rPr lang="en-US" sz="2000" b="1"/>
              <a:t>7. Market Table – Sample Data (limit 100)</a:t>
            </a:r>
          </a:p>
        </p:txBody>
      </p:sp>
      <p:pic>
        <p:nvPicPr>
          <p:cNvPr id="6" name="Picture 5">
            <a:extLst>
              <a:ext uri="{FF2B5EF4-FFF2-40B4-BE49-F238E27FC236}">
                <a16:creationId xmlns:a16="http://schemas.microsoft.com/office/drawing/2014/main" id="{4CD1A912-45B8-9A11-89DC-651261A39A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5045" y="835742"/>
            <a:ext cx="7266039" cy="3569110"/>
          </a:xfrm>
          <a:prstGeom prst="rect">
            <a:avLst/>
          </a:prstGeom>
        </p:spPr>
      </p:pic>
      <p:sp>
        <p:nvSpPr>
          <p:cNvPr id="7" name="TextBox 6">
            <a:extLst>
              <a:ext uri="{FF2B5EF4-FFF2-40B4-BE49-F238E27FC236}">
                <a16:creationId xmlns:a16="http://schemas.microsoft.com/office/drawing/2014/main" id="{B123CA14-8B3A-ECC6-3BFD-2E27052B18A5}"/>
              </a:ext>
            </a:extLst>
          </p:cNvPr>
          <p:cNvSpPr txBox="1"/>
          <p:nvPr/>
        </p:nvSpPr>
        <p:spPr>
          <a:xfrm>
            <a:off x="1248697" y="4670322"/>
            <a:ext cx="9704438" cy="1477328"/>
          </a:xfrm>
          <a:prstGeom prst="rect">
            <a:avLst/>
          </a:prstGeom>
          <a:noFill/>
        </p:spPr>
        <p:txBody>
          <a:bodyPr wrap="square" rtlCol="0">
            <a:spAutoFit/>
          </a:bodyPr>
          <a:lstStyle/>
          <a:p>
            <a:r>
              <a:rPr lang="en-US"/>
              <a:t>This screenshot shows the first 100 records from the Market table using the LIMIT clause.</a:t>
            </a:r>
            <a:br>
              <a:rPr lang="en-US"/>
            </a:br>
            <a:r>
              <a:rPr lang="en-US"/>
              <a:t>The query was executed to display a sample of the dataset without loading the entire data.</a:t>
            </a:r>
            <a:br>
              <a:rPr lang="en-US"/>
            </a:br>
            <a:r>
              <a:rPr lang="en-US"/>
              <a:t>This step was performed to verify that the data was correctly imported into the database.</a:t>
            </a:r>
            <a:br>
              <a:rPr lang="en-US"/>
            </a:br>
            <a:r>
              <a:rPr lang="en-US"/>
              <a:t>It also helped in checking the accuracy, consistency, and completeness of the job market data before further analysis.</a:t>
            </a:r>
          </a:p>
        </p:txBody>
      </p:sp>
    </p:spTree>
    <p:extLst>
      <p:ext uri="{BB962C8B-B14F-4D97-AF65-F5344CB8AC3E}">
        <p14:creationId xmlns:p14="http://schemas.microsoft.com/office/powerpoint/2010/main" val="2804911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D0219E6-08BD-447C-4AE1-0F859449214E}"/>
              </a:ext>
            </a:extLst>
          </p:cNvPr>
          <p:cNvSpPr txBox="1"/>
          <p:nvPr/>
        </p:nvSpPr>
        <p:spPr>
          <a:xfrm>
            <a:off x="412955" y="412955"/>
            <a:ext cx="4218039" cy="400110"/>
          </a:xfrm>
          <a:prstGeom prst="rect">
            <a:avLst/>
          </a:prstGeom>
          <a:noFill/>
        </p:spPr>
        <p:txBody>
          <a:bodyPr wrap="square" rtlCol="0">
            <a:spAutoFit/>
          </a:bodyPr>
          <a:lstStyle/>
          <a:p>
            <a:r>
              <a:rPr lang="en-US" sz="2000" b="1"/>
              <a:t>8.Complete Market Table (Full Data)</a:t>
            </a:r>
          </a:p>
        </p:txBody>
      </p:sp>
      <p:pic>
        <p:nvPicPr>
          <p:cNvPr id="4" name="Picture 3">
            <a:extLst>
              <a:ext uri="{FF2B5EF4-FFF2-40B4-BE49-F238E27FC236}">
                <a16:creationId xmlns:a16="http://schemas.microsoft.com/office/drawing/2014/main" id="{8BD89135-F28C-85E2-51D3-2C659BA132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9136" y="904568"/>
            <a:ext cx="8750710" cy="3195484"/>
          </a:xfrm>
          <a:prstGeom prst="rect">
            <a:avLst/>
          </a:prstGeom>
        </p:spPr>
      </p:pic>
      <p:sp>
        <p:nvSpPr>
          <p:cNvPr id="5" name="TextBox 4">
            <a:extLst>
              <a:ext uri="{FF2B5EF4-FFF2-40B4-BE49-F238E27FC236}">
                <a16:creationId xmlns:a16="http://schemas.microsoft.com/office/drawing/2014/main" id="{AE666D58-E129-BA9A-AD5B-0705A2160785}"/>
              </a:ext>
            </a:extLst>
          </p:cNvPr>
          <p:cNvSpPr txBox="1"/>
          <p:nvPr/>
        </p:nvSpPr>
        <p:spPr>
          <a:xfrm>
            <a:off x="816077" y="4324385"/>
            <a:ext cx="10107563" cy="1200329"/>
          </a:xfrm>
          <a:prstGeom prst="rect">
            <a:avLst/>
          </a:prstGeom>
          <a:noFill/>
        </p:spPr>
        <p:txBody>
          <a:bodyPr wrap="square" rtlCol="0">
            <a:spAutoFit/>
          </a:bodyPr>
          <a:lstStyle/>
          <a:p>
            <a:r>
              <a:rPr lang="en-US"/>
              <a:t>This screenshot shows the complete view of the Market table containing the job market dataset.</a:t>
            </a:r>
            <a:br>
              <a:rPr lang="en-US"/>
            </a:br>
            <a:r>
              <a:rPr lang="en-US"/>
              <a:t>It displays all columns and records stored in the database.</a:t>
            </a:r>
            <a:br>
              <a:rPr lang="en-US"/>
            </a:br>
            <a:r>
              <a:rPr lang="en-US"/>
              <a:t>This step confirms that the entire dataset has been successfully imported without any data loss.</a:t>
            </a:r>
            <a:br>
              <a:rPr lang="en-US"/>
            </a:br>
            <a:r>
              <a:rPr lang="en-US"/>
              <a:t>The verified dataset is now ready to be fetched into Python for data cleaning, analysis, and visualization.</a:t>
            </a:r>
          </a:p>
        </p:txBody>
      </p:sp>
    </p:spTree>
    <p:extLst>
      <p:ext uri="{BB962C8B-B14F-4D97-AF65-F5344CB8AC3E}">
        <p14:creationId xmlns:p14="http://schemas.microsoft.com/office/powerpoint/2010/main" val="52798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4639D95-B694-2633-B9F2-A4FDC499ACB9}"/>
              </a:ext>
            </a:extLst>
          </p:cNvPr>
          <p:cNvSpPr txBox="1"/>
          <p:nvPr/>
        </p:nvSpPr>
        <p:spPr>
          <a:xfrm>
            <a:off x="511278" y="344128"/>
            <a:ext cx="5093110" cy="400110"/>
          </a:xfrm>
          <a:prstGeom prst="rect">
            <a:avLst/>
          </a:prstGeom>
          <a:noFill/>
        </p:spPr>
        <p:txBody>
          <a:bodyPr wrap="square" rtlCol="0">
            <a:spAutoFit/>
          </a:bodyPr>
          <a:lstStyle/>
          <a:p>
            <a:r>
              <a:rPr lang="en-US" sz="2000" b="1"/>
              <a:t>9.State-wise Job Distribution Using SQL Query</a:t>
            </a:r>
          </a:p>
        </p:txBody>
      </p:sp>
      <p:pic>
        <p:nvPicPr>
          <p:cNvPr id="4" name="Picture 3">
            <a:extLst>
              <a:ext uri="{FF2B5EF4-FFF2-40B4-BE49-F238E27FC236}">
                <a16:creationId xmlns:a16="http://schemas.microsoft.com/office/drawing/2014/main" id="{6FEA4CF8-D000-348B-C77D-15F51D1DCD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64658" y="914400"/>
            <a:ext cx="7462683" cy="3598606"/>
          </a:xfrm>
          <a:prstGeom prst="rect">
            <a:avLst/>
          </a:prstGeom>
        </p:spPr>
      </p:pic>
      <p:sp>
        <p:nvSpPr>
          <p:cNvPr id="5" name="TextBox 4">
            <a:extLst>
              <a:ext uri="{FF2B5EF4-FFF2-40B4-BE49-F238E27FC236}">
                <a16:creationId xmlns:a16="http://schemas.microsoft.com/office/drawing/2014/main" id="{8D15699F-8223-8A97-16D2-746915740B9B}"/>
              </a:ext>
            </a:extLst>
          </p:cNvPr>
          <p:cNvSpPr txBox="1"/>
          <p:nvPr/>
        </p:nvSpPr>
        <p:spPr>
          <a:xfrm>
            <a:off x="648929" y="4748981"/>
            <a:ext cx="11090787" cy="1754326"/>
          </a:xfrm>
          <a:prstGeom prst="rect">
            <a:avLst/>
          </a:prstGeom>
          <a:noFill/>
        </p:spPr>
        <p:txBody>
          <a:bodyPr wrap="square" rtlCol="0">
            <a:spAutoFit/>
          </a:bodyPr>
          <a:lstStyle/>
          <a:p>
            <a:r>
              <a:rPr lang="en-US"/>
              <a:t>This screenshot shows both the SQL query and its corresponding output for analyzing state-wise job distribution.</a:t>
            </a:r>
            <a:br>
              <a:rPr lang="en-US"/>
            </a:br>
            <a:r>
              <a:rPr lang="en-US"/>
              <a:t>The query was executed to extract state information from the location column and count the number of job postings in each state.</a:t>
            </a:r>
            <a:br>
              <a:rPr lang="en-US"/>
            </a:br>
            <a:r>
              <a:rPr lang="en-US"/>
              <a:t>The GROUP BY and COUNT functions were used to calculate the total number of jobs in every state.</a:t>
            </a:r>
            <a:br>
              <a:rPr lang="en-US"/>
            </a:br>
            <a:r>
              <a:rPr lang="en-US"/>
              <a:t>The results were arranged in descending order to identify states with the highest job opportunities.</a:t>
            </a:r>
            <a:br>
              <a:rPr lang="en-US"/>
            </a:br>
            <a:r>
              <a:rPr lang="en-US"/>
              <a:t>This analysis revealed that states such as California, Texas, and New York have the maximum number of job postings.</a:t>
            </a:r>
          </a:p>
        </p:txBody>
      </p:sp>
    </p:spTree>
    <p:extLst>
      <p:ext uri="{BB962C8B-B14F-4D97-AF65-F5344CB8AC3E}">
        <p14:creationId xmlns:p14="http://schemas.microsoft.com/office/powerpoint/2010/main" val="4104525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C4D361-8218-4D7F-8A1F-5023DD33F117}"/>
              </a:ext>
            </a:extLst>
          </p:cNvPr>
          <p:cNvSpPr txBox="1"/>
          <p:nvPr/>
        </p:nvSpPr>
        <p:spPr>
          <a:xfrm>
            <a:off x="442452" y="553619"/>
            <a:ext cx="5978013" cy="400110"/>
          </a:xfrm>
          <a:prstGeom prst="rect">
            <a:avLst/>
          </a:prstGeom>
          <a:noFill/>
        </p:spPr>
        <p:txBody>
          <a:bodyPr wrap="square" rtlCol="0">
            <a:spAutoFit/>
          </a:bodyPr>
          <a:lstStyle/>
          <a:p>
            <a:r>
              <a:rPr lang="en-US" sz="2000" b="1"/>
              <a:t>10.Loading Job Market Dataset into Jupyter Notebook</a:t>
            </a:r>
          </a:p>
        </p:txBody>
      </p:sp>
      <p:pic>
        <p:nvPicPr>
          <p:cNvPr id="4" name="Picture 3">
            <a:extLst>
              <a:ext uri="{FF2B5EF4-FFF2-40B4-BE49-F238E27FC236}">
                <a16:creationId xmlns:a16="http://schemas.microsoft.com/office/drawing/2014/main" id="{46F5B2AA-A8A8-04CF-176F-1D367006C146}"/>
              </a:ext>
            </a:extLst>
          </p:cNvPr>
          <p:cNvPicPr>
            <a:picLocks noChangeAspect="1"/>
          </p:cNvPicPr>
          <p:nvPr/>
        </p:nvPicPr>
        <p:blipFill>
          <a:blip r:embed="rId2"/>
          <a:stretch>
            <a:fillRect/>
          </a:stretch>
        </p:blipFill>
        <p:spPr>
          <a:xfrm>
            <a:off x="3357716" y="1543664"/>
            <a:ext cx="5476567" cy="2939845"/>
          </a:xfrm>
          <a:prstGeom prst="rect">
            <a:avLst/>
          </a:prstGeom>
        </p:spPr>
      </p:pic>
      <p:sp>
        <p:nvSpPr>
          <p:cNvPr id="5" name="TextBox 4">
            <a:extLst>
              <a:ext uri="{FF2B5EF4-FFF2-40B4-BE49-F238E27FC236}">
                <a16:creationId xmlns:a16="http://schemas.microsoft.com/office/drawing/2014/main" id="{05B30CFB-DBE0-FE99-4D20-5CB1E30F944F}"/>
              </a:ext>
            </a:extLst>
          </p:cNvPr>
          <p:cNvSpPr txBox="1"/>
          <p:nvPr/>
        </p:nvSpPr>
        <p:spPr>
          <a:xfrm>
            <a:off x="639098" y="5073444"/>
            <a:ext cx="10589340" cy="923330"/>
          </a:xfrm>
          <a:prstGeom prst="rect">
            <a:avLst/>
          </a:prstGeom>
          <a:noFill/>
        </p:spPr>
        <p:txBody>
          <a:bodyPr wrap="square" rtlCol="0">
            <a:spAutoFit/>
          </a:bodyPr>
          <a:lstStyle/>
          <a:p>
            <a:r>
              <a:rPr lang="en-US"/>
              <a:t>This screenshot shows the process of loading the job market dataset into Jupyter Notebook using the Pandas library.</a:t>
            </a:r>
            <a:br>
              <a:rPr lang="en-US"/>
            </a:br>
            <a:r>
              <a:rPr lang="en-US"/>
              <a:t>The data was stored in a DataFrame for further analysis.</a:t>
            </a:r>
          </a:p>
        </p:txBody>
      </p:sp>
    </p:spTree>
    <p:extLst>
      <p:ext uri="{BB962C8B-B14F-4D97-AF65-F5344CB8AC3E}">
        <p14:creationId xmlns:p14="http://schemas.microsoft.com/office/powerpoint/2010/main" val="24809982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E28EB2-4A5E-CF23-F116-19FA28D73E80}"/>
              </a:ext>
            </a:extLst>
          </p:cNvPr>
          <p:cNvSpPr txBox="1"/>
          <p:nvPr/>
        </p:nvSpPr>
        <p:spPr>
          <a:xfrm>
            <a:off x="639097" y="599768"/>
            <a:ext cx="6037006" cy="400110"/>
          </a:xfrm>
          <a:prstGeom prst="rect">
            <a:avLst/>
          </a:prstGeom>
          <a:noFill/>
        </p:spPr>
        <p:txBody>
          <a:bodyPr wrap="square" rtlCol="0">
            <a:spAutoFit/>
          </a:bodyPr>
          <a:lstStyle/>
          <a:p>
            <a:r>
              <a:rPr lang="en-US" sz="2000" b="1"/>
              <a:t>11.Extracting State Information from Location Column</a:t>
            </a:r>
            <a:endParaRPr lang="en-US" sz="2000"/>
          </a:p>
        </p:txBody>
      </p:sp>
      <p:pic>
        <p:nvPicPr>
          <p:cNvPr id="4" name="Picture 3">
            <a:extLst>
              <a:ext uri="{FF2B5EF4-FFF2-40B4-BE49-F238E27FC236}">
                <a16:creationId xmlns:a16="http://schemas.microsoft.com/office/drawing/2014/main" id="{80B2A941-5EED-8292-1325-A64566B388C3}"/>
              </a:ext>
            </a:extLst>
          </p:cNvPr>
          <p:cNvPicPr>
            <a:picLocks noChangeAspect="1"/>
          </p:cNvPicPr>
          <p:nvPr/>
        </p:nvPicPr>
        <p:blipFill>
          <a:blip r:embed="rId2"/>
          <a:stretch>
            <a:fillRect/>
          </a:stretch>
        </p:blipFill>
        <p:spPr>
          <a:xfrm>
            <a:off x="2684206" y="1425678"/>
            <a:ext cx="6489292" cy="3362632"/>
          </a:xfrm>
          <a:prstGeom prst="rect">
            <a:avLst/>
          </a:prstGeom>
        </p:spPr>
      </p:pic>
      <p:sp>
        <p:nvSpPr>
          <p:cNvPr id="5" name="TextBox 4">
            <a:extLst>
              <a:ext uri="{FF2B5EF4-FFF2-40B4-BE49-F238E27FC236}">
                <a16:creationId xmlns:a16="http://schemas.microsoft.com/office/drawing/2014/main" id="{62297AA1-7D8F-52F2-01EB-679CC69E3375}"/>
              </a:ext>
            </a:extLst>
          </p:cNvPr>
          <p:cNvSpPr txBox="1"/>
          <p:nvPr/>
        </p:nvSpPr>
        <p:spPr>
          <a:xfrm>
            <a:off x="501446" y="5109156"/>
            <a:ext cx="8672052" cy="646331"/>
          </a:xfrm>
          <a:prstGeom prst="rect">
            <a:avLst/>
          </a:prstGeom>
          <a:noFill/>
        </p:spPr>
        <p:txBody>
          <a:bodyPr wrap="square" rtlCol="0">
            <a:spAutoFit/>
          </a:bodyPr>
          <a:lstStyle/>
          <a:p>
            <a:r>
              <a:rPr lang="en-US"/>
              <a:t>This screenshot shows the extraction of state names from the location column.</a:t>
            </a:r>
            <a:br>
              <a:rPr lang="en-US"/>
            </a:br>
            <a:r>
              <a:rPr lang="en-US"/>
              <a:t>A new column named State was created to perform state-wise salary analysis.</a:t>
            </a:r>
          </a:p>
        </p:txBody>
      </p:sp>
    </p:spTree>
    <p:extLst>
      <p:ext uri="{BB962C8B-B14F-4D97-AF65-F5344CB8AC3E}">
        <p14:creationId xmlns:p14="http://schemas.microsoft.com/office/powerpoint/2010/main" val="10030771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A84919-9FA2-08B0-E556-4210B371C26F}"/>
              </a:ext>
            </a:extLst>
          </p:cNvPr>
          <p:cNvPicPr>
            <a:picLocks noChangeAspect="1"/>
          </p:cNvPicPr>
          <p:nvPr/>
        </p:nvPicPr>
        <p:blipFill>
          <a:blip r:embed="rId2"/>
          <a:stretch>
            <a:fillRect/>
          </a:stretch>
        </p:blipFill>
        <p:spPr>
          <a:xfrm>
            <a:off x="3120132" y="1592826"/>
            <a:ext cx="5951736" cy="3224980"/>
          </a:xfrm>
          <a:prstGeom prst="rect">
            <a:avLst/>
          </a:prstGeom>
        </p:spPr>
      </p:pic>
      <p:sp>
        <p:nvSpPr>
          <p:cNvPr id="5" name="TextBox 4">
            <a:extLst>
              <a:ext uri="{FF2B5EF4-FFF2-40B4-BE49-F238E27FC236}">
                <a16:creationId xmlns:a16="http://schemas.microsoft.com/office/drawing/2014/main" id="{F1EC6CA0-783E-9136-37C5-3B6D1BB714FC}"/>
              </a:ext>
            </a:extLst>
          </p:cNvPr>
          <p:cNvSpPr txBox="1"/>
          <p:nvPr/>
        </p:nvSpPr>
        <p:spPr>
          <a:xfrm>
            <a:off x="747252" y="658759"/>
            <a:ext cx="3913238" cy="400110"/>
          </a:xfrm>
          <a:prstGeom prst="rect">
            <a:avLst/>
          </a:prstGeom>
          <a:noFill/>
        </p:spPr>
        <p:txBody>
          <a:bodyPr wrap="square" rtlCol="0">
            <a:spAutoFit/>
          </a:bodyPr>
          <a:lstStyle/>
          <a:p>
            <a:r>
              <a:rPr lang="en-US" sz="2000" b="1"/>
              <a:t>12.Verification of Salary Columns</a:t>
            </a:r>
          </a:p>
        </p:txBody>
      </p:sp>
      <p:sp>
        <p:nvSpPr>
          <p:cNvPr id="6" name="TextBox 5">
            <a:extLst>
              <a:ext uri="{FF2B5EF4-FFF2-40B4-BE49-F238E27FC236}">
                <a16:creationId xmlns:a16="http://schemas.microsoft.com/office/drawing/2014/main" id="{4BB4B83A-9923-EE36-42F3-2325460E10E5}"/>
              </a:ext>
            </a:extLst>
          </p:cNvPr>
          <p:cNvSpPr txBox="1"/>
          <p:nvPr/>
        </p:nvSpPr>
        <p:spPr>
          <a:xfrm>
            <a:off x="1386348" y="5496232"/>
            <a:ext cx="8072284" cy="646331"/>
          </a:xfrm>
          <a:prstGeom prst="rect">
            <a:avLst/>
          </a:prstGeom>
          <a:noFill/>
        </p:spPr>
        <p:txBody>
          <a:bodyPr wrap="square" rtlCol="0">
            <a:spAutoFit/>
          </a:bodyPr>
          <a:lstStyle/>
          <a:p>
            <a:r>
              <a:rPr lang="en-US"/>
              <a:t>This step verifies the presence of minimum, maximum, and average salary columns before analysis.</a:t>
            </a:r>
          </a:p>
        </p:txBody>
      </p:sp>
    </p:spTree>
    <p:extLst>
      <p:ext uri="{BB962C8B-B14F-4D97-AF65-F5344CB8AC3E}">
        <p14:creationId xmlns:p14="http://schemas.microsoft.com/office/powerpoint/2010/main" val="2767119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398545-3CF9-18DF-8A18-9695C6C57225}"/>
              </a:ext>
            </a:extLst>
          </p:cNvPr>
          <p:cNvSpPr txBox="1"/>
          <p:nvPr/>
        </p:nvSpPr>
        <p:spPr>
          <a:xfrm>
            <a:off x="294965" y="294968"/>
            <a:ext cx="7521679" cy="400110"/>
          </a:xfrm>
          <a:prstGeom prst="rect">
            <a:avLst/>
          </a:prstGeom>
          <a:noFill/>
        </p:spPr>
        <p:txBody>
          <a:bodyPr wrap="square" rtlCol="0">
            <a:spAutoFit/>
          </a:bodyPr>
          <a:lstStyle/>
          <a:p>
            <a:r>
              <a:rPr lang="en-US" sz="2000" b="1"/>
              <a:t>13.State-wise Minimum, Maximum and Average Salary Calculation</a:t>
            </a:r>
          </a:p>
        </p:txBody>
      </p:sp>
      <p:pic>
        <p:nvPicPr>
          <p:cNvPr id="4" name="Picture 3">
            <a:extLst>
              <a:ext uri="{FF2B5EF4-FFF2-40B4-BE49-F238E27FC236}">
                <a16:creationId xmlns:a16="http://schemas.microsoft.com/office/drawing/2014/main" id="{A50DB63B-25A9-B141-8770-900A03B68830}"/>
              </a:ext>
            </a:extLst>
          </p:cNvPr>
          <p:cNvPicPr>
            <a:picLocks noChangeAspect="1"/>
          </p:cNvPicPr>
          <p:nvPr/>
        </p:nvPicPr>
        <p:blipFill>
          <a:blip r:embed="rId2"/>
          <a:stretch>
            <a:fillRect/>
          </a:stretch>
        </p:blipFill>
        <p:spPr>
          <a:xfrm>
            <a:off x="2678399" y="865238"/>
            <a:ext cx="6363251" cy="4200577"/>
          </a:xfrm>
          <a:prstGeom prst="rect">
            <a:avLst/>
          </a:prstGeom>
        </p:spPr>
      </p:pic>
      <p:sp>
        <p:nvSpPr>
          <p:cNvPr id="5" name="TextBox 4">
            <a:extLst>
              <a:ext uri="{FF2B5EF4-FFF2-40B4-BE49-F238E27FC236}">
                <a16:creationId xmlns:a16="http://schemas.microsoft.com/office/drawing/2014/main" id="{FF727DEA-8D05-5589-0360-EB64B63E5D1D}"/>
              </a:ext>
            </a:extLst>
          </p:cNvPr>
          <p:cNvSpPr txBox="1"/>
          <p:nvPr/>
        </p:nvSpPr>
        <p:spPr>
          <a:xfrm>
            <a:off x="693175" y="5506065"/>
            <a:ext cx="10805650" cy="646331"/>
          </a:xfrm>
          <a:prstGeom prst="rect">
            <a:avLst/>
          </a:prstGeom>
          <a:noFill/>
        </p:spPr>
        <p:txBody>
          <a:bodyPr wrap="square" rtlCol="0">
            <a:spAutoFit/>
          </a:bodyPr>
          <a:lstStyle/>
          <a:p>
            <a:r>
              <a:rPr lang="en-US"/>
              <a:t>The dataset was grouped by state and the mean values of minimum, maximum, and average salaries were calculated using Pandas aggregation.</a:t>
            </a:r>
          </a:p>
        </p:txBody>
      </p:sp>
    </p:spTree>
    <p:extLst>
      <p:ext uri="{BB962C8B-B14F-4D97-AF65-F5344CB8AC3E}">
        <p14:creationId xmlns:p14="http://schemas.microsoft.com/office/powerpoint/2010/main" val="27026831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B877E5-76D2-4724-BAE6-992BAFFE9AF4}"/>
              </a:ext>
            </a:extLst>
          </p:cNvPr>
          <p:cNvSpPr txBox="1"/>
          <p:nvPr/>
        </p:nvSpPr>
        <p:spPr>
          <a:xfrm>
            <a:off x="422788" y="412955"/>
            <a:ext cx="7069393" cy="400110"/>
          </a:xfrm>
          <a:prstGeom prst="rect">
            <a:avLst/>
          </a:prstGeom>
          <a:noFill/>
        </p:spPr>
        <p:txBody>
          <a:bodyPr wrap="square" rtlCol="0">
            <a:spAutoFit/>
          </a:bodyPr>
          <a:lstStyle/>
          <a:p>
            <a:r>
              <a:rPr lang="en-US" sz="2000" b="1"/>
              <a:t>14.Top 10 States – Minimum,Maximum and Average Visualization</a:t>
            </a:r>
          </a:p>
        </p:txBody>
      </p:sp>
      <p:sp>
        <p:nvSpPr>
          <p:cNvPr id="5" name="TextBox 4">
            <a:extLst>
              <a:ext uri="{FF2B5EF4-FFF2-40B4-BE49-F238E27FC236}">
                <a16:creationId xmlns:a16="http://schemas.microsoft.com/office/drawing/2014/main" id="{8A363666-BA9F-4909-2181-BF2CD6DF7B1E}"/>
              </a:ext>
            </a:extLst>
          </p:cNvPr>
          <p:cNvSpPr txBox="1"/>
          <p:nvPr/>
        </p:nvSpPr>
        <p:spPr>
          <a:xfrm>
            <a:off x="422789" y="5348748"/>
            <a:ext cx="9763432" cy="646331"/>
          </a:xfrm>
          <a:prstGeom prst="rect">
            <a:avLst/>
          </a:prstGeom>
          <a:noFill/>
        </p:spPr>
        <p:txBody>
          <a:bodyPr wrap="square" rtlCol="0">
            <a:spAutoFit/>
          </a:bodyPr>
          <a:lstStyle/>
          <a:p>
            <a:r>
              <a:rPr lang="en-US"/>
              <a:t>This bar chart visualize s tge top 10 states based on average salary,comparing minimum,maximum,and average levels for better understanding of state-wise salary distribution.</a:t>
            </a:r>
          </a:p>
        </p:txBody>
      </p:sp>
      <p:pic>
        <p:nvPicPr>
          <p:cNvPr id="6" name="Picture 5">
            <a:extLst>
              <a:ext uri="{FF2B5EF4-FFF2-40B4-BE49-F238E27FC236}">
                <a16:creationId xmlns:a16="http://schemas.microsoft.com/office/drawing/2014/main" id="{9F308BE7-2B47-074E-8E97-884EDEB451FB}"/>
              </a:ext>
            </a:extLst>
          </p:cNvPr>
          <p:cNvPicPr>
            <a:picLocks noChangeAspect="1"/>
          </p:cNvPicPr>
          <p:nvPr/>
        </p:nvPicPr>
        <p:blipFill>
          <a:blip r:embed="rId2"/>
          <a:stretch>
            <a:fillRect/>
          </a:stretch>
        </p:blipFill>
        <p:spPr>
          <a:xfrm>
            <a:off x="1740309" y="967526"/>
            <a:ext cx="8445911" cy="4017429"/>
          </a:xfrm>
          <a:prstGeom prst="rect">
            <a:avLst/>
          </a:prstGeom>
        </p:spPr>
      </p:pic>
    </p:spTree>
    <p:extLst>
      <p:ext uri="{BB962C8B-B14F-4D97-AF65-F5344CB8AC3E}">
        <p14:creationId xmlns:p14="http://schemas.microsoft.com/office/powerpoint/2010/main" val="596319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5A2E-84E5-5632-6154-488345249129}"/>
              </a:ext>
            </a:extLst>
          </p:cNvPr>
          <p:cNvSpPr>
            <a:spLocks noGrp="1"/>
          </p:cNvSpPr>
          <p:nvPr>
            <p:ph type="title"/>
          </p:nvPr>
        </p:nvSpPr>
        <p:spPr>
          <a:xfrm>
            <a:off x="717755" y="393290"/>
            <a:ext cx="5378245" cy="747252"/>
          </a:xfrm>
        </p:spPr>
        <p:txBody>
          <a:bodyPr>
            <a:noAutofit/>
          </a:bodyPr>
          <a:lstStyle/>
          <a:p>
            <a:r>
              <a:rPr lang="en-US" sz="2000" b="1"/>
              <a:t>15.Insights from State-wise Salary Analysis</a:t>
            </a:r>
          </a:p>
        </p:txBody>
      </p:sp>
      <p:sp>
        <p:nvSpPr>
          <p:cNvPr id="3" name="Content Placeholder 2">
            <a:extLst>
              <a:ext uri="{FF2B5EF4-FFF2-40B4-BE49-F238E27FC236}">
                <a16:creationId xmlns:a16="http://schemas.microsoft.com/office/drawing/2014/main" id="{BD85A55D-2AD5-9701-2CE3-F85EE546B4C7}"/>
              </a:ext>
            </a:extLst>
          </p:cNvPr>
          <p:cNvSpPr>
            <a:spLocks noGrp="1"/>
          </p:cNvSpPr>
          <p:nvPr>
            <p:ph idx="1"/>
          </p:nvPr>
        </p:nvSpPr>
        <p:spPr>
          <a:xfrm>
            <a:off x="1544320" y="1605281"/>
            <a:ext cx="9408160" cy="3419004"/>
          </a:xfrm>
        </p:spPr>
        <p:txBody>
          <a:bodyPr>
            <a:normAutofit/>
          </a:bodyPr>
          <a:lstStyle/>
          <a:p>
            <a:r>
              <a:rPr lang="en-US" sz="1800"/>
              <a:t>Some states offer higher minimum, maximum, and average salaries due to the presence of major IT and analytics companies.</a:t>
            </a:r>
          </a:p>
          <a:p>
            <a:r>
              <a:rPr lang="en-US" sz="1800"/>
              <a:t>A significant gap is observed between lower and upper salary values in many states, indicating variation based on experience and skills.</a:t>
            </a:r>
          </a:p>
          <a:p>
            <a:r>
              <a:rPr lang="en-US" sz="1800"/>
              <a:t>States with higher average salaries provide better career growth and professional development opportunities.</a:t>
            </a:r>
          </a:p>
          <a:p>
            <a:r>
              <a:rPr lang="en-US" sz="1800"/>
              <a:t>Certain states show comparatively lower salary ranges, reflecting limited job demand and fewer high-paying organizations.</a:t>
            </a:r>
          </a:p>
          <a:p>
            <a:r>
              <a:rPr lang="en-US" sz="1800"/>
              <a:t>States with higher job demand tend to offer better salary packages, showing a direct relationship between demand and compensation.</a:t>
            </a:r>
          </a:p>
        </p:txBody>
      </p:sp>
    </p:spTree>
    <p:extLst>
      <p:ext uri="{BB962C8B-B14F-4D97-AF65-F5344CB8AC3E}">
        <p14:creationId xmlns:p14="http://schemas.microsoft.com/office/powerpoint/2010/main" val="3264466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D9255F-604D-25F9-E647-82686DDDA3F5}"/>
              </a:ext>
            </a:extLst>
          </p:cNvPr>
          <p:cNvSpPr txBox="1"/>
          <p:nvPr/>
        </p:nvSpPr>
        <p:spPr>
          <a:xfrm>
            <a:off x="452283" y="383458"/>
            <a:ext cx="4286865" cy="400110"/>
          </a:xfrm>
          <a:prstGeom prst="rect">
            <a:avLst/>
          </a:prstGeom>
          <a:noFill/>
        </p:spPr>
        <p:txBody>
          <a:bodyPr wrap="square" rtlCol="0">
            <a:spAutoFit/>
          </a:bodyPr>
          <a:lstStyle/>
          <a:p>
            <a:r>
              <a:rPr lang="en-US" sz="2000" b="1"/>
              <a:t>16.Verification of Average Salary Data</a:t>
            </a:r>
          </a:p>
        </p:txBody>
      </p:sp>
      <p:pic>
        <p:nvPicPr>
          <p:cNvPr id="4" name="Picture 3">
            <a:extLst>
              <a:ext uri="{FF2B5EF4-FFF2-40B4-BE49-F238E27FC236}">
                <a16:creationId xmlns:a16="http://schemas.microsoft.com/office/drawing/2014/main" id="{CE8B000B-4992-1FD7-2B5C-3F749FD3900E}"/>
              </a:ext>
            </a:extLst>
          </p:cNvPr>
          <p:cNvPicPr>
            <a:picLocks noChangeAspect="1"/>
          </p:cNvPicPr>
          <p:nvPr/>
        </p:nvPicPr>
        <p:blipFill>
          <a:blip r:embed="rId2"/>
          <a:stretch>
            <a:fillRect/>
          </a:stretch>
        </p:blipFill>
        <p:spPr>
          <a:xfrm>
            <a:off x="2772696" y="894737"/>
            <a:ext cx="6204155" cy="3726424"/>
          </a:xfrm>
          <a:prstGeom prst="rect">
            <a:avLst/>
          </a:prstGeom>
        </p:spPr>
      </p:pic>
      <p:sp>
        <p:nvSpPr>
          <p:cNvPr id="5" name="TextBox 4">
            <a:extLst>
              <a:ext uri="{FF2B5EF4-FFF2-40B4-BE49-F238E27FC236}">
                <a16:creationId xmlns:a16="http://schemas.microsoft.com/office/drawing/2014/main" id="{A9693BA8-8A0C-25CC-E76E-F862EED28692}"/>
              </a:ext>
            </a:extLst>
          </p:cNvPr>
          <p:cNvSpPr txBox="1"/>
          <p:nvPr/>
        </p:nvSpPr>
        <p:spPr>
          <a:xfrm>
            <a:off x="993058" y="5131158"/>
            <a:ext cx="8504903" cy="369332"/>
          </a:xfrm>
          <a:prstGeom prst="rect">
            <a:avLst/>
          </a:prstGeom>
          <a:noFill/>
        </p:spPr>
        <p:txBody>
          <a:bodyPr wrap="square" rtlCol="0">
            <a:spAutoFit/>
          </a:bodyPr>
          <a:lstStyle/>
          <a:p>
            <a:r>
              <a:rPr lang="en-US"/>
              <a:t>This step verifies the presence of state and average salary columns for further analysis.</a:t>
            </a:r>
          </a:p>
        </p:txBody>
      </p:sp>
    </p:spTree>
    <p:extLst>
      <p:ext uri="{BB962C8B-B14F-4D97-AF65-F5344CB8AC3E}">
        <p14:creationId xmlns:p14="http://schemas.microsoft.com/office/powerpoint/2010/main" val="3808703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6A159E-5CA1-429F-4A74-C3E9BAC48946}"/>
              </a:ext>
            </a:extLst>
          </p:cNvPr>
          <p:cNvSpPr txBox="1"/>
          <p:nvPr/>
        </p:nvSpPr>
        <p:spPr>
          <a:xfrm>
            <a:off x="334297" y="255638"/>
            <a:ext cx="5407742" cy="400110"/>
          </a:xfrm>
          <a:prstGeom prst="rect">
            <a:avLst/>
          </a:prstGeom>
          <a:noFill/>
        </p:spPr>
        <p:txBody>
          <a:bodyPr wrap="square" rtlCol="0">
            <a:spAutoFit/>
          </a:bodyPr>
          <a:lstStyle/>
          <a:p>
            <a:r>
              <a:rPr lang="en-US" sz="2000" b="1"/>
              <a:t>17.State-wise Average Salary Calculation</a:t>
            </a:r>
          </a:p>
        </p:txBody>
      </p:sp>
      <p:pic>
        <p:nvPicPr>
          <p:cNvPr id="4" name="Picture 3">
            <a:extLst>
              <a:ext uri="{FF2B5EF4-FFF2-40B4-BE49-F238E27FC236}">
                <a16:creationId xmlns:a16="http://schemas.microsoft.com/office/drawing/2014/main" id="{0234E885-382D-F753-8EAF-58775B6C7DDA}"/>
              </a:ext>
            </a:extLst>
          </p:cNvPr>
          <p:cNvPicPr>
            <a:picLocks noChangeAspect="1"/>
          </p:cNvPicPr>
          <p:nvPr/>
        </p:nvPicPr>
        <p:blipFill>
          <a:blip r:embed="rId2"/>
          <a:stretch>
            <a:fillRect/>
          </a:stretch>
        </p:blipFill>
        <p:spPr>
          <a:xfrm>
            <a:off x="1745226" y="822897"/>
            <a:ext cx="8504903" cy="4026448"/>
          </a:xfrm>
          <a:prstGeom prst="rect">
            <a:avLst/>
          </a:prstGeom>
        </p:spPr>
      </p:pic>
      <p:sp>
        <p:nvSpPr>
          <p:cNvPr id="5" name="TextBox 4">
            <a:extLst>
              <a:ext uri="{FF2B5EF4-FFF2-40B4-BE49-F238E27FC236}">
                <a16:creationId xmlns:a16="http://schemas.microsoft.com/office/drawing/2014/main" id="{B23263C2-3586-4C96-FF5A-70C5F6B590FF}"/>
              </a:ext>
            </a:extLst>
          </p:cNvPr>
          <p:cNvSpPr txBox="1"/>
          <p:nvPr/>
        </p:nvSpPr>
        <p:spPr>
          <a:xfrm>
            <a:off x="1012723" y="5525729"/>
            <a:ext cx="9625780" cy="369332"/>
          </a:xfrm>
          <a:prstGeom prst="rect">
            <a:avLst/>
          </a:prstGeom>
          <a:noFill/>
        </p:spPr>
        <p:txBody>
          <a:bodyPr wrap="square" rtlCol="0">
            <a:spAutoFit/>
          </a:bodyPr>
          <a:lstStyle/>
          <a:p>
            <a:r>
              <a:rPr lang="en-US"/>
              <a:t>The dataset was grouped by state and the mean average salary was calculated using Pandas.</a:t>
            </a:r>
          </a:p>
        </p:txBody>
      </p:sp>
    </p:spTree>
    <p:extLst>
      <p:ext uri="{BB962C8B-B14F-4D97-AF65-F5344CB8AC3E}">
        <p14:creationId xmlns:p14="http://schemas.microsoft.com/office/powerpoint/2010/main" val="1867987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9C1948-700F-10E0-F0F1-A760B36B8C68}"/>
              </a:ext>
            </a:extLst>
          </p:cNvPr>
          <p:cNvSpPr txBox="1"/>
          <p:nvPr/>
        </p:nvSpPr>
        <p:spPr>
          <a:xfrm>
            <a:off x="216309" y="275303"/>
            <a:ext cx="4080388" cy="400110"/>
          </a:xfrm>
          <a:prstGeom prst="rect">
            <a:avLst/>
          </a:prstGeom>
          <a:noFill/>
        </p:spPr>
        <p:txBody>
          <a:bodyPr wrap="square" rtlCol="0">
            <a:spAutoFit/>
          </a:bodyPr>
          <a:lstStyle/>
          <a:p>
            <a:r>
              <a:rPr lang="en-US" sz="2000" b="1"/>
              <a:t>18.Top 10 States by Average Salary</a:t>
            </a:r>
          </a:p>
        </p:txBody>
      </p:sp>
      <p:pic>
        <p:nvPicPr>
          <p:cNvPr id="4" name="Picture 3">
            <a:extLst>
              <a:ext uri="{FF2B5EF4-FFF2-40B4-BE49-F238E27FC236}">
                <a16:creationId xmlns:a16="http://schemas.microsoft.com/office/drawing/2014/main" id="{172198ED-90F8-485C-79D1-D88221C29735}"/>
              </a:ext>
            </a:extLst>
          </p:cNvPr>
          <p:cNvPicPr>
            <a:picLocks noChangeAspect="1"/>
          </p:cNvPicPr>
          <p:nvPr/>
        </p:nvPicPr>
        <p:blipFill>
          <a:blip r:embed="rId2"/>
          <a:stretch>
            <a:fillRect/>
          </a:stretch>
        </p:blipFill>
        <p:spPr>
          <a:xfrm>
            <a:off x="1150375" y="1021933"/>
            <a:ext cx="9252154" cy="4130170"/>
          </a:xfrm>
          <a:prstGeom prst="rect">
            <a:avLst/>
          </a:prstGeom>
        </p:spPr>
      </p:pic>
      <p:sp>
        <p:nvSpPr>
          <p:cNvPr id="5" name="TextBox 4">
            <a:extLst>
              <a:ext uri="{FF2B5EF4-FFF2-40B4-BE49-F238E27FC236}">
                <a16:creationId xmlns:a16="http://schemas.microsoft.com/office/drawing/2014/main" id="{91FF5B7C-CD61-3BD7-126A-35D022B6C579}"/>
              </a:ext>
            </a:extLst>
          </p:cNvPr>
          <p:cNvSpPr txBox="1"/>
          <p:nvPr/>
        </p:nvSpPr>
        <p:spPr>
          <a:xfrm>
            <a:off x="639097" y="5466735"/>
            <a:ext cx="9468464" cy="369332"/>
          </a:xfrm>
          <a:prstGeom prst="rect">
            <a:avLst/>
          </a:prstGeom>
          <a:noFill/>
        </p:spPr>
        <p:txBody>
          <a:bodyPr wrap="square" rtlCol="0">
            <a:spAutoFit/>
          </a:bodyPr>
          <a:lstStyle/>
          <a:p>
            <a:r>
              <a:rPr lang="en-US"/>
              <a:t>A bar chart was created to visualize states offering the highest average salaries.</a:t>
            </a:r>
          </a:p>
        </p:txBody>
      </p:sp>
    </p:spTree>
    <p:extLst>
      <p:ext uri="{BB962C8B-B14F-4D97-AF65-F5344CB8AC3E}">
        <p14:creationId xmlns:p14="http://schemas.microsoft.com/office/powerpoint/2010/main" val="2556025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CA5C7-4B4A-3D24-1346-133A8B6AB2F8}"/>
              </a:ext>
            </a:extLst>
          </p:cNvPr>
          <p:cNvSpPr>
            <a:spLocks noGrp="1"/>
          </p:cNvSpPr>
          <p:nvPr>
            <p:ph type="title"/>
          </p:nvPr>
        </p:nvSpPr>
        <p:spPr>
          <a:xfrm>
            <a:off x="412955" y="589935"/>
            <a:ext cx="5388077" cy="570272"/>
          </a:xfrm>
        </p:spPr>
        <p:txBody>
          <a:bodyPr>
            <a:normAutofit/>
          </a:bodyPr>
          <a:lstStyle/>
          <a:p>
            <a:r>
              <a:rPr lang="en-US" sz="2000" b="1"/>
              <a:t>19.Insights from State-wise Average Salary Analysis</a:t>
            </a:r>
          </a:p>
        </p:txBody>
      </p:sp>
      <p:sp>
        <p:nvSpPr>
          <p:cNvPr id="3" name="Content Placeholder 2">
            <a:extLst>
              <a:ext uri="{FF2B5EF4-FFF2-40B4-BE49-F238E27FC236}">
                <a16:creationId xmlns:a16="http://schemas.microsoft.com/office/drawing/2014/main" id="{BD377FD3-21D3-3636-A2F8-4C6D552A8806}"/>
              </a:ext>
            </a:extLst>
          </p:cNvPr>
          <p:cNvSpPr>
            <a:spLocks noGrp="1"/>
          </p:cNvSpPr>
          <p:nvPr>
            <p:ph idx="1"/>
          </p:nvPr>
        </p:nvSpPr>
        <p:spPr>
          <a:xfrm>
            <a:off x="1402080" y="1625601"/>
            <a:ext cx="9519920" cy="3738880"/>
          </a:xfrm>
        </p:spPr>
        <p:txBody>
          <a:bodyPr>
            <a:normAutofit/>
          </a:bodyPr>
          <a:lstStyle/>
          <a:p>
            <a:r>
              <a:rPr lang="en-US" sz="1800"/>
              <a:t>Some states consistently offer higher average salaries, making them attractive locations for data professionals.</a:t>
            </a:r>
            <a:br>
              <a:rPr lang="en-US" sz="1800"/>
            </a:br>
            <a:endParaRPr lang="en-US" sz="1800"/>
          </a:p>
          <a:p>
            <a:r>
              <a:rPr lang="en-US" sz="1800"/>
              <a:t>There is a noticeable difference in average salaries among different states, showing regional economic differences.</a:t>
            </a:r>
            <a:br>
              <a:rPr lang="en-US" sz="1800"/>
            </a:br>
            <a:endParaRPr lang="en-US" sz="1800"/>
          </a:p>
          <a:p>
            <a:r>
              <a:rPr lang="en-US" sz="1800"/>
              <a:t>States with strong technology and analytics ecosystems tend to provide better salary packages.</a:t>
            </a:r>
            <a:br>
              <a:rPr lang="en-US" sz="1800"/>
            </a:br>
            <a:endParaRPr lang="en-US" sz="1800"/>
          </a:p>
          <a:p>
            <a:r>
              <a:rPr lang="en-US" sz="1800"/>
              <a:t>Higher competition for skilled professionals in certain states leads to increased average salaries.</a:t>
            </a:r>
          </a:p>
          <a:p>
            <a:r>
              <a:rPr lang="en-US" sz="1800"/>
              <a:t>Geographical location plays a major role in determining salary levels and long-term earning potential.</a:t>
            </a:r>
          </a:p>
          <a:p>
            <a:endParaRPr lang="en-US"/>
          </a:p>
        </p:txBody>
      </p:sp>
    </p:spTree>
    <p:extLst>
      <p:ext uri="{BB962C8B-B14F-4D97-AF65-F5344CB8AC3E}">
        <p14:creationId xmlns:p14="http://schemas.microsoft.com/office/powerpoint/2010/main" val="34659983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06D2DE-26B9-B847-64F7-6D08BA3C61DA}"/>
              </a:ext>
            </a:extLst>
          </p:cNvPr>
          <p:cNvSpPr txBox="1"/>
          <p:nvPr/>
        </p:nvSpPr>
        <p:spPr>
          <a:xfrm>
            <a:off x="353962" y="294968"/>
            <a:ext cx="3883742" cy="400110"/>
          </a:xfrm>
          <a:prstGeom prst="rect">
            <a:avLst/>
          </a:prstGeom>
          <a:noFill/>
        </p:spPr>
        <p:txBody>
          <a:bodyPr wrap="square" rtlCol="0">
            <a:spAutoFit/>
          </a:bodyPr>
          <a:lstStyle/>
          <a:p>
            <a:r>
              <a:rPr lang="en-US" sz="2000" b="1"/>
              <a:t>20.Verification of Industry Data</a:t>
            </a:r>
          </a:p>
        </p:txBody>
      </p:sp>
      <p:pic>
        <p:nvPicPr>
          <p:cNvPr id="4" name="Picture 3">
            <a:extLst>
              <a:ext uri="{FF2B5EF4-FFF2-40B4-BE49-F238E27FC236}">
                <a16:creationId xmlns:a16="http://schemas.microsoft.com/office/drawing/2014/main" id="{A4343E38-2CDC-D6AF-D8C4-09E2E265890A}"/>
              </a:ext>
            </a:extLst>
          </p:cNvPr>
          <p:cNvPicPr>
            <a:picLocks noChangeAspect="1"/>
          </p:cNvPicPr>
          <p:nvPr/>
        </p:nvPicPr>
        <p:blipFill>
          <a:blip r:embed="rId2"/>
          <a:stretch>
            <a:fillRect/>
          </a:stretch>
        </p:blipFill>
        <p:spPr>
          <a:xfrm>
            <a:off x="1661652" y="963561"/>
            <a:ext cx="8495071" cy="3746091"/>
          </a:xfrm>
          <a:prstGeom prst="rect">
            <a:avLst/>
          </a:prstGeom>
        </p:spPr>
      </p:pic>
      <p:sp>
        <p:nvSpPr>
          <p:cNvPr id="5" name="TextBox 4">
            <a:extLst>
              <a:ext uri="{FF2B5EF4-FFF2-40B4-BE49-F238E27FC236}">
                <a16:creationId xmlns:a16="http://schemas.microsoft.com/office/drawing/2014/main" id="{C2966247-1FA4-10EF-081C-099A96C8DAE1}"/>
              </a:ext>
            </a:extLst>
          </p:cNvPr>
          <p:cNvSpPr txBox="1"/>
          <p:nvPr/>
        </p:nvSpPr>
        <p:spPr>
          <a:xfrm>
            <a:off x="1111044" y="5240594"/>
            <a:ext cx="8327923" cy="369332"/>
          </a:xfrm>
          <a:prstGeom prst="rect">
            <a:avLst/>
          </a:prstGeom>
          <a:noFill/>
        </p:spPr>
        <p:txBody>
          <a:bodyPr wrap="square" rtlCol="0">
            <a:spAutoFit/>
          </a:bodyPr>
          <a:lstStyle/>
          <a:p>
            <a:r>
              <a:rPr lang="en-US"/>
              <a:t>This step verifies the industry column and displays sample counts of job postings.</a:t>
            </a:r>
          </a:p>
        </p:txBody>
      </p:sp>
    </p:spTree>
    <p:extLst>
      <p:ext uri="{BB962C8B-B14F-4D97-AF65-F5344CB8AC3E}">
        <p14:creationId xmlns:p14="http://schemas.microsoft.com/office/powerpoint/2010/main" val="42085805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99AEA4-5D1B-6328-26E1-535A88E3D2D0}"/>
              </a:ext>
            </a:extLst>
          </p:cNvPr>
          <p:cNvSpPr txBox="1"/>
          <p:nvPr/>
        </p:nvSpPr>
        <p:spPr>
          <a:xfrm>
            <a:off x="550606" y="412954"/>
            <a:ext cx="4188542" cy="400110"/>
          </a:xfrm>
          <a:prstGeom prst="rect">
            <a:avLst/>
          </a:prstGeom>
          <a:noFill/>
        </p:spPr>
        <p:txBody>
          <a:bodyPr wrap="square" rtlCol="0">
            <a:spAutoFit/>
          </a:bodyPr>
          <a:lstStyle/>
          <a:p>
            <a:r>
              <a:rPr lang="en-US" sz="2000" b="1"/>
              <a:t>21.Top 5 Industries by Job Openings</a:t>
            </a:r>
          </a:p>
        </p:txBody>
      </p:sp>
      <p:pic>
        <p:nvPicPr>
          <p:cNvPr id="4" name="Picture 3">
            <a:extLst>
              <a:ext uri="{FF2B5EF4-FFF2-40B4-BE49-F238E27FC236}">
                <a16:creationId xmlns:a16="http://schemas.microsoft.com/office/drawing/2014/main" id="{CE5217F3-8DAF-0E36-7E78-2247F234E125}"/>
              </a:ext>
            </a:extLst>
          </p:cNvPr>
          <p:cNvPicPr>
            <a:picLocks noChangeAspect="1"/>
          </p:cNvPicPr>
          <p:nvPr/>
        </p:nvPicPr>
        <p:blipFill>
          <a:blip r:embed="rId2"/>
          <a:stretch>
            <a:fillRect/>
          </a:stretch>
        </p:blipFill>
        <p:spPr>
          <a:xfrm>
            <a:off x="2251587" y="1111044"/>
            <a:ext cx="7846142" cy="4011561"/>
          </a:xfrm>
          <a:prstGeom prst="rect">
            <a:avLst/>
          </a:prstGeom>
        </p:spPr>
      </p:pic>
      <p:sp>
        <p:nvSpPr>
          <p:cNvPr id="5" name="TextBox 4">
            <a:extLst>
              <a:ext uri="{FF2B5EF4-FFF2-40B4-BE49-F238E27FC236}">
                <a16:creationId xmlns:a16="http://schemas.microsoft.com/office/drawing/2014/main" id="{B25A9128-F1DD-7343-F763-77F66CBD2EF4}"/>
              </a:ext>
            </a:extLst>
          </p:cNvPr>
          <p:cNvSpPr txBox="1"/>
          <p:nvPr/>
        </p:nvSpPr>
        <p:spPr>
          <a:xfrm>
            <a:off x="825910" y="5562289"/>
            <a:ext cx="10087896" cy="369332"/>
          </a:xfrm>
          <a:prstGeom prst="rect">
            <a:avLst/>
          </a:prstGeom>
          <a:noFill/>
        </p:spPr>
        <p:txBody>
          <a:bodyPr wrap="square" rtlCol="0">
            <a:spAutoFit/>
          </a:bodyPr>
          <a:lstStyle/>
          <a:p>
            <a:r>
              <a:rPr lang="en-US"/>
              <a:t>This analysis identifies the top five industries with the highest number of data science related job postings.</a:t>
            </a:r>
          </a:p>
        </p:txBody>
      </p:sp>
    </p:spTree>
    <p:extLst>
      <p:ext uri="{BB962C8B-B14F-4D97-AF65-F5344CB8AC3E}">
        <p14:creationId xmlns:p14="http://schemas.microsoft.com/office/powerpoint/2010/main" val="11819366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150F39-5F24-18DE-A14A-A850D41634D4}"/>
              </a:ext>
            </a:extLst>
          </p:cNvPr>
          <p:cNvSpPr txBox="1"/>
          <p:nvPr/>
        </p:nvSpPr>
        <p:spPr>
          <a:xfrm>
            <a:off x="363795" y="235974"/>
            <a:ext cx="3687095" cy="400110"/>
          </a:xfrm>
          <a:prstGeom prst="rect">
            <a:avLst/>
          </a:prstGeom>
          <a:noFill/>
        </p:spPr>
        <p:txBody>
          <a:bodyPr wrap="square" rtlCol="0">
            <a:spAutoFit/>
          </a:bodyPr>
          <a:lstStyle/>
          <a:p>
            <a:r>
              <a:rPr lang="en-US" sz="2000" b="1"/>
              <a:t>22.Industry-wise Job Distribution</a:t>
            </a:r>
          </a:p>
        </p:txBody>
      </p:sp>
      <p:pic>
        <p:nvPicPr>
          <p:cNvPr id="4" name="Picture 3">
            <a:extLst>
              <a:ext uri="{FF2B5EF4-FFF2-40B4-BE49-F238E27FC236}">
                <a16:creationId xmlns:a16="http://schemas.microsoft.com/office/drawing/2014/main" id="{82D69546-A390-F3B5-317B-0B98730283AC}"/>
              </a:ext>
            </a:extLst>
          </p:cNvPr>
          <p:cNvPicPr>
            <a:picLocks noChangeAspect="1"/>
          </p:cNvPicPr>
          <p:nvPr/>
        </p:nvPicPr>
        <p:blipFill>
          <a:blip r:embed="rId2"/>
          <a:stretch>
            <a:fillRect/>
          </a:stretch>
        </p:blipFill>
        <p:spPr>
          <a:xfrm>
            <a:off x="1710813" y="1450258"/>
            <a:ext cx="8445909" cy="4331110"/>
          </a:xfrm>
          <a:prstGeom prst="rect">
            <a:avLst/>
          </a:prstGeom>
        </p:spPr>
      </p:pic>
      <p:pic>
        <p:nvPicPr>
          <p:cNvPr id="6" name="Picture 5">
            <a:extLst>
              <a:ext uri="{FF2B5EF4-FFF2-40B4-BE49-F238E27FC236}">
                <a16:creationId xmlns:a16="http://schemas.microsoft.com/office/drawing/2014/main" id="{7F9840AD-7CFF-1A1C-29AA-4FA927C07131}"/>
              </a:ext>
            </a:extLst>
          </p:cNvPr>
          <p:cNvPicPr>
            <a:picLocks noChangeAspect="1"/>
          </p:cNvPicPr>
          <p:nvPr/>
        </p:nvPicPr>
        <p:blipFill>
          <a:blip r:embed="rId3"/>
          <a:stretch>
            <a:fillRect/>
          </a:stretch>
        </p:blipFill>
        <p:spPr>
          <a:xfrm>
            <a:off x="2177844" y="802502"/>
            <a:ext cx="7511845" cy="647756"/>
          </a:xfrm>
          <a:prstGeom prst="rect">
            <a:avLst/>
          </a:prstGeom>
        </p:spPr>
      </p:pic>
      <p:sp>
        <p:nvSpPr>
          <p:cNvPr id="7" name="TextBox 6">
            <a:extLst>
              <a:ext uri="{FF2B5EF4-FFF2-40B4-BE49-F238E27FC236}">
                <a16:creationId xmlns:a16="http://schemas.microsoft.com/office/drawing/2014/main" id="{FDA6A5CB-1886-2B3E-A31C-62E488C728ED}"/>
              </a:ext>
            </a:extLst>
          </p:cNvPr>
          <p:cNvSpPr txBox="1"/>
          <p:nvPr/>
        </p:nvSpPr>
        <p:spPr>
          <a:xfrm>
            <a:off x="560439" y="6024720"/>
            <a:ext cx="8790039" cy="369332"/>
          </a:xfrm>
          <a:prstGeom prst="rect">
            <a:avLst/>
          </a:prstGeom>
          <a:noFill/>
        </p:spPr>
        <p:txBody>
          <a:bodyPr wrap="square" rtlCol="0">
            <a:spAutoFit/>
          </a:bodyPr>
          <a:lstStyle/>
          <a:p>
            <a:r>
              <a:rPr lang="en-US"/>
              <a:t>A bar chart was created to visualize the distribution of job postings across major industries.</a:t>
            </a:r>
          </a:p>
        </p:txBody>
      </p:sp>
    </p:spTree>
    <p:extLst>
      <p:ext uri="{BB962C8B-B14F-4D97-AF65-F5344CB8AC3E}">
        <p14:creationId xmlns:p14="http://schemas.microsoft.com/office/powerpoint/2010/main" val="421438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0FDD8-F959-B962-F9D7-CA28AECE889B}"/>
              </a:ext>
            </a:extLst>
          </p:cNvPr>
          <p:cNvSpPr>
            <a:spLocks noGrp="1"/>
          </p:cNvSpPr>
          <p:nvPr>
            <p:ph type="title"/>
          </p:nvPr>
        </p:nvSpPr>
        <p:spPr>
          <a:xfrm>
            <a:off x="589280" y="345441"/>
            <a:ext cx="4927600" cy="934720"/>
          </a:xfrm>
        </p:spPr>
        <p:txBody>
          <a:bodyPr>
            <a:normAutofit/>
          </a:bodyPr>
          <a:lstStyle/>
          <a:p>
            <a:r>
              <a:rPr lang="en-US" sz="2000" b="1"/>
              <a:t>23.Insights from Industry-wise Job Analysis</a:t>
            </a:r>
          </a:p>
        </p:txBody>
      </p:sp>
      <p:sp>
        <p:nvSpPr>
          <p:cNvPr id="3" name="Content Placeholder 2">
            <a:extLst>
              <a:ext uri="{FF2B5EF4-FFF2-40B4-BE49-F238E27FC236}">
                <a16:creationId xmlns:a16="http://schemas.microsoft.com/office/drawing/2014/main" id="{4629A4E8-8490-4EC0-4126-094B61D3DBCE}"/>
              </a:ext>
            </a:extLst>
          </p:cNvPr>
          <p:cNvSpPr>
            <a:spLocks noGrp="1"/>
          </p:cNvSpPr>
          <p:nvPr>
            <p:ph idx="1"/>
          </p:nvPr>
        </p:nvSpPr>
        <p:spPr>
          <a:xfrm>
            <a:off x="1574800" y="1541145"/>
            <a:ext cx="9184640" cy="3935095"/>
          </a:xfrm>
        </p:spPr>
        <p:txBody>
          <a:bodyPr>
            <a:normAutofit/>
          </a:bodyPr>
          <a:lstStyle/>
          <a:p>
            <a:r>
              <a:rPr lang="en-US" sz="1800"/>
              <a:t>The IT and software industry has the highest number of data science job postings, showing strong demand for data professionals.</a:t>
            </a:r>
            <a:br>
              <a:rPr lang="en-US" sz="1800"/>
            </a:br>
            <a:endParaRPr lang="en-US" sz="1800"/>
          </a:p>
          <a:p>
            <a:r>
              <a:rPr lang="en-US" sz="1800"/>
              <a:t>Analytics and consulting industries actively hire data scientists to support business decision-making.</a:t>
            </a:r>
            <a:br>
              <a:rPr lang="en-US" sz="1800"/>
            </a:br>
            <a:endParaRPr lang="en-US" sz="1800"/>
          </a:p>
          <a:p>
            <a:r>
              <a:rPr lang="en-US" sz="1800"/>
              <a:t>Industries that rely on big data and artificial intelligence show continuous growth in job opportunities.</a:t>
            </a:r>
            <a:br>
              <a:rPr lang="en-US" sz="1800"/>
            </a:br>
            <a:endParaRPr lang="en-US" sz="1800"/>
          </a:p>
          <a:p>
            <a:r>
              <a:rPr lang="en-US" sz="1800"/>
              <a:t>Traditional industries have fewer data science job postings compared to modern, technology-driven sectors.</a:t>
            </a:r>
          </a:p>
          <a:p>
            <a:r>
              <a:rPr lang="en-US" sz="1800"/>
              <a:t>Choosing high-demand industries can provide better job security, salary growth, and learning opportunities.</a:t>
            </a:r>
          </a:p>
          <a:p>
            <a:endParaRPr lang="en-US"/>
          </a:p>
        </p:txBody>
      </p:sp>
    </p:spTree>
    <p:extLst>
      <p:ext uri="{BB962C8B-B14F-4D97-AF65-F5344CB8AC3E}">
        <p14:creationId xmlns:p14="http://schemas.microsoft.com/office/powerpoint/2010/main" val="34037500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3628C8-05B0-6563-7250-950E4B817776}"/>
              </a:ext>
            </a:extLst>
          </p:cNvPr>
          <p:cNvSpPr txBox="1"/>
          <p:nvPr/>
        </p:nvSpPr>
        <p:spPr>
          <a:xfrm>
            <a:off x="812800" y="528320"/>
            <a:ext cx="3972560" cy="400110"/>
          </a:xfrm>
          <a:prstGeom prst="rect">
            <a:avLst/>
          </a:prstGeom>
          <a:noFill/>
        </p:spPr>
        <p:txBody>
          <a:bodyPr wrap="square" rtlCol="0">
            <a:spAutoFit/>
          </a:bodyPr>
          <a:lstStyle/>
          <a:p>
            <a:r>
              <a:rPr lang="en-US" sz="2000" b="1"/>
              <a:t>24.Verification of Company Data</a:t>
            </a:r>
          </a:p>
        </p:txBody>
      </p:sp>
      <p:sp>
        <p:nvSpPr>
          <p:cNvPr id="5" name="TextBox 4">
            <a:extLst>
              <a:ext uri="{FF2B5EF4-FFF2-40B4-BE49-F238E27FC236}">
                <a16:creationId xmlns:a16="http://schemas.microsoft.com/office/drawing/2014/main" id="{2BC6371F-BBDD-DA57-16BA-A24B44D3D03E}"/>
              </a:ext>
            </a:extLst>
          </p:cNvPr>
          <p:cNvSpPr txBox="1"/>
          <p:nvPr/>
        </p:nvSpPr>
        <p:spPr>
          <a:xfrm>
            <a:off x="579120" y="5551230"/>
            <a:ext cx="7553960" cy="369332"/>
          </a:xfrm>
          <a:prstGeom prst="rect">
            <a:avLst/>
          </a:prstGeom>
          <a:noFill/>
        </p:spPr>
        <p:txBody>
          <a:bodyPr wrap="square" rtlCol="0">
            <a:spAutoFit/>
          </a:bodyPr>
          <a:lstStyle/>
          <a:p>
            <a:r>
              <a:rPr lang="en-US"/>
              <a:t>This step verifies the company name column and displays sample job counts.</a:t>
            </a:r>
          </a:p>
        </p:txBody>
      </p:sp>
      <p:pic>
        <p:nvPicPr>
          <p:cNvPr id="7" name="Picture 6">
            <a:extLst>
              <a:ext uri="{FF2B5EF4-FFF2-40B4-BE49-F238E27FC236}">
                <a16:creationId xmlns:a16="http://schemas.microsoft.com/office/drawing/2014/main" id="{F72656BC-1136-C8F1-33AF-87763FBA49C0}"/>
              </a:ext>
            </a:extLst>
          </p:cNvPr>
          <p:cNvPicPr>
            <a:picLocks noChangeAspect="1"/>
          </p:cNvPicPr>
          <p:nvPr/>
        </p:nvPicPr>
        <p:blipFill>
          <a:blip r:embed="rId2"/>
          <a:stretch>
            <a:fillRect/>
          </a:stretch>
        </p:blipFill>
        <p:spPr>
          <a:xfrm>
            <a:off x="1121634" y="1148080"/>
            <a:ext cx="9841006" cy="3738880"/>
          </a:xfrm>
          <a:prstGeom prst="rect">
            <a:avLst/>
          </a:prstGeom>
        </p:spPr>
      </p:pic>
    </p:spTree>
    <p:extLst>
      <p:ext uri="{BB962C8B-B14F-4D97-AF65-F5344CB8AC3E}">
        <p14:creationId xmlns:p14="http://schemas.microsoft.com/office/powerpoint/2010/main" val="2648028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DCECF1-064E-AF28-40F7-6EAD1BDFA793}"/>
              </a:ext>
            </a:extLst>
          </p:cNvPr>
          <p:cNvSpPr txBox="1"/>
          <p:nvPr/>
        </p:nvSpPr>
        <p:spPr>
          <a:xfrm>
            <a:off x="629920" y="477520"/>
            <a:ext cx="4114800" cy="400110"/>
          </a:xfrm>
          <a:prstGeom prst="rect">
            <a:avLst/>
          </a:prstGeom>
          <a:noFill/>
        </p:spPr>
        <p:txBody>
          <a:bodyPr wrap="square" rtlCol="0">
            <a:spAutoFit/>
          </a:bodyPr>
          <a:lstStyle/>
          <a:p>
            <a:r>
              <a:rPr lang="en-US" sz="2000" b="1"/>
              <a:t>25.Top Companies by Job Openings</a:t>
            </a:r>
          </a:p>
        </p:txBody>
      </p:sp>
      <p:sp>
        <p:nvSpPr>
          <p:cNvPr id="5" name="TextBox 4">
            <a:extLst>
              <a:ext uri="{FF2B5EF4-FFF2-40B4-BE49-F238E27FC236}">
                <a16:creationId xmlns:a16="http://schemas.microsoft.com/office/drawing/2014/main" id="{8E4958FF-065F-D306-431E-FB0343C5589F}"/>
              </a:ext>
            </a:extLst>
          </p:cNvPr>
          <p:cNvSpPr txBox="1"/>
          <p:nvPr/>
        </p:nvSpPr>
        <p:spPr>
          <a:xfrm>
            <a:off x="497840" y="5801360"/>
            <a:ext cx="9398000" cy="369332"/>
          </a:xfrm>
          <a:prstGeom prst="rect">
            <a:avLst/>
          </a:prstGeom>
          <a:noFill/>
        </p:spPr>
        <p:txBody>
          <a:bodyPr wrap="square" rtlCol="0">
            <a:spAutoFit/>
          </a:bodyPr>
          <a:lstStyle/>
          <a:p>
            <a:r>
              <a:rPr lang="en-US"/>
              <a:t>This analysis identifies companies with the highest number of job openings in the dataset.</a:t>
            </a:r>
          </a:p>
        </p:txBody>
      </p:sp>
      <p:pic>
        <p:nvPicPr>
          <p:cNvPr id="7" name="Picture 6">
            <a:extLst>
              <a:ext uri="{FF2B5EF4-FFF2-40B4-BE49-F238E27FC236}">
                <a16:creationId xmlns:a16="http://schemas.microsoft.com/office/drawing/2014/main" id="{E983385F-4733-D795-7CA6-069D02BA35BF}"/>
              </a:ext>
            </a:extLst>
          </p:cNvPr>
          <p:cNvPicPr>
            <a:picLocks noChangeAspect="1"/>
          </p:cNvPicPr>
          <p:nvPr/>
        </p:nvPicPr>
        <p:blipFill>
          <a:blip r:embed="rId2"/>
          <a:stretch>
            <a:fillRect/>
          </a:stretch>
        </p:blipFill>
        <p:spPr>
          <a:xfrm>
            <a:off x="2092960" y="1107440"/>
            <a:ext cx="8361680" cy="4139087"/>
          </a:xfrm>
          <a:prstGeom prst="rect">
            <a:avLst/>
          </a:prstGeom>
        </p:spPr>
      </p:pic>
    </p:spTree>
    <p:extLst>
      <p:ext uri="{BB962C8B-B14F-4D97-AF65-F5344CB8AC3E}">
        <p14:creationId xmlns:p14="http://schemas.microsoft.com/office/powerpoint/2010/main" val="4420023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5EF5A9-CDDF-B7F8-16DF-CADF05AF56D8}"/>
              </a:ext>
            </a:extLst>
          </p:cNvPr>
          <p:cNvSpPr txBox="1"/>
          <p:nvPr/>
        </p:nvSpPr>
        <p:spPr>
          <a:xfrm>
            <a:off x="294640" y="233680"/>
            <a:ext cx="5648960" cy="400110"/>
          </a:xfrm>
          <a:prstGeom prst="rect">
            <a:avLst/>
          </a:prstGeom>
          <a:noFill/>
        </p:spPr>
        <p:txBody>
          <a:bodyPr wrap="square" rtlCol="0">
            <a:spAutoFit/>
          </a:bodyPr>
          <a:lstStyle/>
          <a:p>
            <a:r>
              <a:rPr lang="en-US" sz="2000" b="1"/>
              <a:t>26.Top 10 Companies with Highest Job Openings</a:t>
            </a:r>
          </a:p>
        </p:txBody>
      </p:sp>
      <p:sp>
        <p:nvSpPr>
          <p:cNvPr id="7" name="TextBox 6">
            <a:extLst>
              <a:ext uri="{FF2B5EF4-FFF2-40B4-BE49-F238E27FC236}">
                <a16:creationId xmlns:a16="http://schemas.microsoft.com/office/drawing/2014/main" id="{EDFAB330-A546-EC4A-AA57-B1B3B344E558}"/>
              </a:ext>
            </a:extLst>
          </p:cNvPr>
          <p:cNvSpPr txBox="1"/>
          <p:nvPr/>
        </p:nvSpPr>
        <p:spPr>
          <a:xfrm>
            <a:off x="860323" y="4920438"/>
            <a:ext cx="9977120" cy="923330"/>
          </a:xfrm>
          <a:prstGeom prst="rect">
            <a:avLst/>
          </a:prstGeom>
          <a:noFill/>
        </p:spPr>
        <p:txBody>
          <a:bodyPr wrap="square" rtlCol="0">
            <a:spAutoFit/>
          </a:bodyPr>
          <a:lstStyle/>
          <a:p>
            <a:r>
              <a:rPr lang="en-US"/>
              <a:t>This bar chart shows the top 10 companies with the highest number of job openings in the dataset.</a:t>
            </a:r>
            <a:br>
              <a:rPr lang="en-US"/>
            </a:br>
            <a:r>
              <a:rPr lang="en-US"/>
              <a:t>It highlights organizations that actively recruit data science professionals.</a:t>
            </a:r>
            <a:br>
              <a:rPr lang="en-US"/>
            </a:br>
            <a:r>
              <a:rPr lang="en-US"/>
              <a:t>These companies provide strong career opportunities and stable employment prospects.</a:t>
            </a:r>
          </a:p>
        </p:txBody>
      </p:sp>
      <p:pic>
        <p:nvPicPr>
          <p:cNvPr id="9" name="Picture 8">
            <a:extLst>
              <a:ext uri="{FF2B5EF4-FFF2-40B4-BE49-F238E27FC236}">
                <a16:creationId xmlns:a16="http://schemas.microsoft.com/office/drawing/2014/main" id="{218ED500-7186-1D2D-E064-6372021D6109}"/>
              </a:ext>
            </a:extLst>
          </p:cNvPr>
          <p:cNvPicPr>
            <a:picLocks noChangeAspect="1"/>
          </p:cNvPicPr>
          <p:nvPr/>
        </p:nvPicPr>
        <p:blipFill>
          <a:blip r:embed="rId2"/>
          <a:stretch>
            <a:fillRect/>
          </a:stretch>
        </p:blipFill>
        <p:spPr>
          <a:xfrm>
            <a:off x="2015613" y="633790"/>
            <a:ext cx="7629832" cy="400110"/>
          </a:xfrm>
          <a:prstGeom prst="rect">
            <a:avLst/>
          </a:prstGeom>
        </p:spPr>
      </p:pic>
      <p:pic>
        <p:nvPicPr>
          <p:cNvPr id="11" name="Picture 10">
            <a:extLst>
              <a:ext uri="{FF2B5EF4-FFF2-40B4-BE49-F238E27FC236}">
                <a16:creationId xmlns:a16="http://schemas.microsoft.com/office/drawing/2014/main" id="{C68F8738-DD76-9126-640C-1976366EA86D}"/>
              </a:ext>
            </a:extLst>
          </p:cNvPr>
          <p:cNvPicPr>
            <a:picLocks noChangeAspect="1"/>
          </p:cNvPicPr>
          <p:nvPr/>
        </p:nvPicPr>
        <p:blipFill>
          <a:blip r:embed="rId3"/>
          <a:stretch>
            <a:fillRect/>
          </a:stretch>
        </p:blipFill>
        <p:spPr>
          <a:xfrm>
            <a:off x="1186753" y="952731"/>
            <a:ext cx="9977120" cy="3648766"/>
          </a:xfrm>
          <a:prstGeom prst="rect">
            <a:avLst/>
          </a:prstGeom>
        </p:spPr>
      </p:pic>
    </p:spTree>
    <p:extLst>
      <p:ext uri="{BB962C8B-B14F-4D97-AF65-F5344CB8AC3E}">
        <p14:creationId xmlns:p14="http://schemas.microsoft.com/office/powerpoint/2010/main" val="2670794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77E31-8B51-86BE-90A7-6CD39C860FA3}"/>
              </a:ext>
            </a:extLst>
          </p:cNvPr>
          <p:cNvSpPr>
            <a:spLocks noGrp="1"/>
          </p:cNvSpPr>
          <p:nvPr>
            <p:ph type="title"/>
          </p:nvPr>
        </p:nvSpPr>
        <p:spPr>
          <a:xfrm>
            <a:off x="472440" y="375285"/>
            <a:ext cx="5095240" cy="803275"/>
          </a:xfrm>
        </p:spPr>
        <p:txBody>
          <a:bodyPr>
            <a:normAutofit/>
          </a:bodyPr>
          <a:lstStyle/>
          <a:p>
            <a:r>
              <a:rPr lang="en-US" sz="2000" b="1"/>
              <a:t>27.Insights from Company-wise Job Analysis</a:t>
            </a:r>
          </a:p>
        </p:txBody>
      </p:sp>
      <p:sp>
        <p:nvSpPr>
          <p:cNvPr id="3" name="Content Placeholder 2">
            <a:extLst>
              <a:ext uri="{FF2B5EF4-FFF2-40B4-BE49-F238E27FC236}">
                <a16:creationId xmlns:a16="http://schemas.microsoft.com/office/drawing/2014/main" id="{7ECB7FED-AB0B-C6E4-9192-A61BD1099BB9}"/>
              </a:ext>
            </a:extLst>
          </p:cNvPr>
          <p:cNvSpPr>
            <a:spLocks noGrp="1"/>
          </p:cNvSpPr>
          <p:nvPr>
            <p:ph idx="1"/>
          </p:nvPr>
        </p:nvSpPr>
        <p:spPr>
          <a:xfrm>
            <a:off x="1940560" y="1463041"/>
            <a:ext cx="8879840" cy="4206240"/>
          </a:xfrm>
        </p:spPr>
        <p:txBody>
          <a:bodyPr>
            <a:normAutofit/>
          </a:bodyPr>
          <a:lstStyle/>
          <a:p>
            <a:r>
              <a:rPr lang="en-US" sz="1800"/>
              <a:t>A few major companies contribute a large portion of job openings, showing their strong market presence.</a:t>
            </a:r>
            <a:br>
              <a:rPr lang="en-US" sz="1800"/>
            </a:br>
            <a:endParaRPr lang="en-US" sz="1800"/>
          </a:p>
          <a:p>
            <a:r>
              <a:rPr lang="en-US" sz="1800"/>
              <a:t>Top companies invest heavily in data science and analytics roles to improve business performance.</a:t>
            </a:r>
            <a:br>
              <a:rPr lang="en-US" sz="1800"/>
            </a:br>
            <a:endParaRPr lang="en-US" sz="1800"/>
          </a:p>
          <a:p>
            <a:r>
              <a:rPr lang="en-US" sz="1800"/>
              <a:t>Companies with more openings provide better chances for learning, growth, and promotion.</a:t>
            </a:r>
            <a:br>
              <a:rPr lang="en-US" sz="1800"/>
            </a:br>
            <a:endParaRPr lang="en-US" sz="1800"/>
          </a:p>
          <a:p>
            <a:r>
              <a:rPr lang="en-US" sz="1800"/>
              <a:t>Well-established companies consistently hire due to stable operations and long-term projects.</a:t>
            </a:r>
          </a:p>
          <a:p>
            <a:r>
              <a:rPr lang="en-US" sz="1800"/>
              <a:t>Popular companies attract skilled candidates, increasing competition and improving workforce quality.</a:t>
            </a:r>
          </a:p>
          <a:p>
            <a:endParaRPr lang="en-US"/>
          </a:p>
        </p:txBody>
      </p:sp>
    </p:spTree>
    <p:extLst>
      <p:ext uri="{BB962C8B-B14F-4D97-AF65-F5344CB8AC3E}">
        <p14:creationId xmlns:p14="http://schemas.microsoft.com/office/powerpoint/2010/main" val="26690072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FEA52B3-C39B-BEE6-7D52-CF5C15C07064}"/>
              </a:ext>
            </a:extLst>
          </p:cNvPr>
          <p:cNvSpPr txBox="1"/>
          <p:nvPr/>
        </p:nvSpPr>
        <p:spPr>
          <a:xfrm>
            <a:off x="373627" y="294968"/>
            <a:ext cx="3736257" cy="400110"/>
          </a:xfrm>
          <a:prstGeom prst="rect">
            <a:avLst/>
          </a:prstGeom>
          <a:noFill/>
        </p:spPr>
        <p:txBody>
          <a:bodyPr wrap="square" rtlCol="0">
            <a:spAutoFit/>
          </a:bodyPr>
          <a:lstStyle/>
          <a:p>
            <a:r>
              <a:rPr lang="en-US" sz="2000" b="1"/>
              <a:t>28.Verification of Job Title Data</a:t>
            </a:r>
          </a:p>
        </p:txBody>
      </p:sp>
      <p:pic>
        <p:nvPicPr>
          <p:cNvPr id="4" name="Picture 3">
            <a:extLst>
              <a:ext uri="{FF2B5EF4-FFF2-40B4-BE49-F238E27FC236}">
                <a16:creationId xmlns:a16="http://schemas.microsoft.com/office/drawing/2014/main" id="{B572AC06-FF21-D0DA-2558-B4C3696909DD}"/>
              </a:ext>
            </a:extLst>
          </p:cNvPr>
          <p:cNvPicPr>
            <a:picLocks noChangeAspect="1"/>
          </p:cNvPicPr>
          <p:nvPr/>
        </p:nvPicPr>
        <p:blipFill>
          <a:blip r:embed="rId2"/>
          <a:stretch>
            <a:fillRect/>
          </a:stretch>
        </p:blipFill>
        <p:spPr>
          <a:xfrm>
            <a:off x="2231923" y="931052"/>
            <a:ext cx="7266039" cy="4083399"/>
          </a:xfrm>
          <a:prstGeom prst="rect">
            <a:avLst/>
          </a:prstGeom>
        </p:spPr>
      </p:pic>
      <p:sp>
        <p:nvSpPr>
          <p:cNvPr id="5" name="TextBox 4">
            <a:extLst>
              <a:ext uri="{FF2B5EF4-FFF2-40B4-BE49-F238E27FC236}">
                <a16:creationId xmlns:a16="http://schemas.microsoft.com/office/drawing/2014/main" id="{86634B93-E1E9-DFB4-9A5A-10A1753C5F0A}"/>
              </a:ext>
            </a:extLst>
          </p:cNvPr>
          <p:cNvSpPr txBox="1"/>
          <p:nvPr/>
        </p:nvSpPr>
        <p:spPr>
          <a:xfrm>
            <a:off x="786581" y="5358581"/>
            <a:ext cx="6725264" cy="369332"/>
          </a:xfrm>
          <a:prstGeom prst="rect">
            <a:avLst/>
          </a:prstGeom>
          <a:noFill/>
        </p:spPr>
        <p:txBody>
          <a:bodyPr wrap="square" rtlCol="0">
            <a:spAutoFit/>
          </a:bodyPr>
          <a:lstStyle/>
          <a:p>
            <a:r>
              <a:rPr lang="en-US"/>
              <a:t>This step verifies the job title column and displays sample job counts.</a:t>
            </a:r>
          </a:p>
        </p:txBody>
      </p:sp>
    </p:spTree>
    <p:extLst>
      <p:ext uri="{BB962C8B-B14F-4D97-AF65-F5344CB8AC3E}">
        <p14:creationId xmlns:p14="http://schemas.microsoft.com/office/powerpoint/2010/main" val="1797739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F2F9B6-28F1-350A-5ECA-49F9B496D39D}"/>
              </a:ext>
            </a:extLst>
          </p:cNvPr>
          <p:cNvSpPr txBox="1"/>
          <p:nvPr/>
        </p:nvSpPr>
        <p:spPr>
          <a:xfrm>
            <a:off x="511277" y="373626"/>
            <a:ext cx="4041058" cy="369332"/>
          </a:xfrm>
          <a:prstGeom prst="rect">
            <a:avLst/>
          </a:prstGeom>
          <a:noFill/>
        </p:spPr>
        <p:txBody>
          <a:bodyPr wrap="square" rtlCol="0">
            <a:spAutoFit/>
          </a:bodyPr>
          <a:lstStyle/>
          <a:p>
            <a:r>
              <a:rPr lang="en-US" b="1"/>
              <a:t>29.Top 10 Job Titles by Job Openings</a:t>
            </a:r>
            <a:endParaRPr lang="en-US"/>
          </a:p>
        </p:txBody>
      </p:sp>
      <p:pic>
        <p:nvPicPr>
          <p:cNvPr id="5" name="Picture 4">
            <a:extLst>
              <a:ext uri="{FF2B5EF4-FFF2-40B4-BE49-F238E27FC236}">
                <a16:creationId xmlns:a16="http://schemas.microsoft.com/office/drawing/2014/main" id="{21E57DBB-11FD-C3A0-5524-2D8EBDAB9118}"/>
              </a:ext>
            </a:extLst>
          </p:cNvPr>
          <p:cNvPicPr>
            <a:picLocks noChangeAspect="1"/>
          </p:cNvPicPr>
          <p:nvPr/>
        </p:nvPicPr>
        <p:blipFill>
          <a:blip r:embed="rId2"/>
          <a:stretch>
            <a:fillRect/>
          </a:stretch>
        </p:blipFill>
        <p:spPr>
          <a:xfrm>
            <a:off x="2458065" y="1091381"/>
            <a:ext cx="7620000" cy="3720769"/>
          </a:xfrm>
          <a:prstGeom prst="rect">
            <a:avLst/>
          </a:prstGeom>
        </p:spPr>
      </p:pic>
      <p:sp>
        <p:nvSpPr>
          <p:cNvPr id="6" name="TextBox 5">
            <a:extLst>
              <a:ext uri="{FF2B5EF4-FFF2-40B4-BE49-F238E27FC236}">
                <a16:creationId xmlns:a16="http://schemas.microsoft.com/office/drawing/2014/main" id="{68965713-F451-B2EE-59D1-2F62897E4DA1}"/>
              </a:ext>
            </a:extLst>
          </p:cNvPr>
          <p:cNvSpPr txBox="1"/>
          <p:nvPr/>
        </p:nvSpPr>
        <p:spPr>
          <a:xfrm>
            <a:off x="983226" y="5388077"/>
            <a:ext cx="7620000" cy="369332"/>
          </a:xfrm>
          <a:prstGeom prst="rect">
            <a:avLst/>
          </a:prstGeom>
          <a:noFill/>
        </p:spPr>
        <p:txBody>
          <a:bodyPr wrap="square" rtlCol="0">
            <a:spAutoFit/>
          </a:bodyPr>
          <a:lstStyle/>
          <a:p>
            <a:r>
              <a:rPr lang="en-US"/>
              <a:t>This analysis identifies the most in-demand job roles in the dataset.</a:t>
            </a:r>
          </a:p>
        </p:txBody>
      </p:sp>
    </p:spTree>
    <p:extLst>
      <p:ext uri="{BB962C8B-B14F-4D97-AF65-F5344CB8AC3E}">
        <p14:creationId xmlns:p14="http://schemas.microsoft.com/office/powerpoint/2010/main" val="13353685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BF54AF7-B00E-F99A-7EB0-CA47270C363A}"/>
              </a:ext>
            </a:extLst>
          </p:cNvPr>
          <p:cNvSpPr txBox="1"/>
          <p:nvPr/>
        </p:nvSpPr>
        <p:spPr>
          <a:xfrm>
            <a:off x="353961" y="383458"/>
            <a:ext cx="3687097" cy="400110"/>
          </a:xfrm>
          <a:prstGeom prst="rect">
            <a:avLst/>
          </a:prstGeom>
          <a:noFill/>
        </p:spPr>
        <p:txBody>
          <a:bodyPr wrap="square" rtlCol="0">
            <a:spAutoFit/>
          </a:bodyPr>
          <a:lstStyle/>
          <a:p>
            <a:r>
              <a:rPr lang="en-US" sz="2000" b="1"/>
              <a:t>30.Most In-Demand Job Roles</a:t>
            </a:r>
          </a:p>
        </p:txBody>
      </p:sp>
      <p:pic>
        <p:nvPicPr>
          <p:cNvPr id="5" name="Picture 4">
            <a:extLst>
              <a:ext uri="{FF2B5EF4-FFF2-40B4-BE49-F238E27FC236}">
                <a16:creationId xmlns:a16="http://schemas.microsoft.com/office/drawing/2014/main" id="{5E354CE8-FBF5-CBA8-CB1B-A98A5417FAB8}"/>
              </a:ext>
            </a:extLst>
          </p:cNvPr>
          <p:cNvPicPr>
            <a:picLocks noChangeAspect="1"/>
          </p:cNvPicPr>
          <p:nvPr/>
        </p:nvPicPr>
        <p:blipFill>
          <a:blip r:embed="rId2"/>
          <a:stretch>
            <a:fillRect/>
          </a:stretch>
        </p:blipFill>
        <p:spPr>
          <a:xfrm>
            <a:off x="2467897" y="884017"/>
            <a:ext cx="7384026" cy="586791"/>
          </a:xfrm>
          <a:prstGeom prst="rect">
            <a:avLst/>
          </a:prstGeom>
        </p:spPr>
      </p:pic>
      <p:pic>
        <p:nvPicPr>
          <p:cNvPr id="7" name="Picture 6">
            <a:extLst>
              <a:ext uri="{FF2B5EF4-FFF2-40B4-BE49-F238E27FC236}">
                <a16:creationId xmlns:a16="http://schemas.microsoft.com/office/drawing/2014/main" id="{E658B4D8-FA16-86C0-75DA-B2DCF6693158}"/>
              </a:ext>
            </a:extLst>
          </p:cNvPr>
          <p:cNvPicPr>
            <a:picLocks noChangeAspect="1"/>
          </p:cNvPicPr>
          <p:nvPr/>
        </p:nvPicPr>
        <p:blipFill>
          <a:blip r:embed="rId3"/>
          <a:stretch>
            <a:fillRect/>
          </a:stretch>
        </p:blipFill>
        <p:spPr>
          <a:xfrm>
            <a:off x="1769807" y="1769804"/>
            <a:ext cx="8475406" cy="3657601"/>
          </a:xfrm>
          <a:prstGeom prst="rect">
            <a:avLst/>
          </a:prstGeom>
        </p:spPr>
      </p:pic>
      <p:sp>
        <p:nvSpPr>
          <p:cNvPr id="8" name="TextBox 7">
            <a:extLst>
              <a:ext uri="{FF2B5EF4-FFF2-40B4-BE49-F238E27FC236}">
                <a16:creationId xmlns:a16="http://schemas.microsoft.com/office/drawing/2014/main" id="{D7ED5057-5929-709B-A5A3-8EE27A95BAE8}"/>
              </a:ext>
            </a:extLst>
          </p:cNvPr>
          <p:cNvSpPr txBox="1"/>
          <p:nvPr/>
        </p:nvSpPr>
        <p:spPr>
          <a:xfrm>
            <a:off x="835742" y="5578920"/>
            <a:ext cx="9232491" cy="369332"/>
          </a:xfrm>
          <a:prstGeom prst="rect">
            <a:avLst/>
          </a:prstGeom>
          <a:noFill/>
        </p:spPr>
        <p:txBody>
          <a:bodyPr wrap="square" rtlCol="0">
            <a:spAutoFit/>
          </a:bodyPr>
          <a:lstStyle/>
          <a:p>
            <a:r>
              <a:rPr lang="en-US"/>
              <a:t>This chart shows job roles with the highest number of openings in the job market.</a:t>
            </a:r>
          </a:p>
        </p:txBody>
      </p:sp>
    </p:spTree>
    <p:extLst>
      <p:ext uri="{BB962C8B-B14F-4D97-AF65-F5344CB8AC3E}">
        <p14:creationId xmlns:p14="http://schemas.microsoft.com/office/powerpoint/2010/main" val="15817126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C0883-6686-F006-3B56-51B85797C6F1}"/>
              </a:ext>
            </a:extLst>
          </p:cNvPr>
          <p:cNvSpPr>
            <a:spLocks noGrp="1"/>
          </p:cNvSpPr>
          <p:nvPr>
            <p:ph type="title"/>
          </p:nvPr>
        </p:nvSpPr>
        <p:spPr>
          <a:xfrm>
            <a:off x="838200" y="681037"/>
            <a:ext cx="4490884" cy="626653"/>
          </a:xfrm>
        </p:spPr>
        <p:txBody>
          <a:bodyPr>
            <a:normAutofit fontScale="90000"/>
          </a:bodyPr>
          <a:lstStyle/>
          <a:p>
            <a:br>
              <a:rPr lang="en-US"/>
            </a:br>
            <a:r>
              <a:rPr lang="en-US" sz="2200" b="1"/>
              <a:t>31.Insights from Job Title Analysis</a:t>
            </a:r>
            <a:br>
              <a:rPr lang="en-US"/>
            </a:br>
            <a:endParaRPr lang="en-US"/>
          </a:p>
        </p:txBody>
      </p:sp>
      <p:sp>
        <p:nvSpPr>
          <p:cNvPr id="3" name="Content Placeholder 2">
            <a:extLst>
              <a:ext uri="{FF2B5EF4-FFF2-40B4-BE49-F238E27FC236}">
                <a16:creationId xmlns:a16="http://schemas.microsoft.com/office/drawing/2014/main" id="{DFE21B09-54F8-9A04-5FEB-DD311DF34ED7}"/>
              </a:ext>
            </a:extLst>
          </p:cNvPr>
          <p:cNvSpPr>
            <a:spLocks noGrp="1"/>
          </p:cNvSpPr>
          <p:nvPr>
            <p:ph idx="1"/>
          </p:nvPr>
        </p:nvSpPr>
        <p:spPr>
          <a:xfrm>
            <a:off x="1897626" y="1825625"/>
            <a:ext cx="8091948" cy="3444465"/>
          </a:xfrm>
        </p:spPr>
        <p:txBody>
          <a:bodyPr>
            <a:normAutofit/>
          </a:bodyPr>
          <a:lstStyle/>
          <a:p>
            <a:r>
              <a:rPr lang="en-US" sz="1900"/>
              <a:t>Data Scientist roles appear most frequently, showing strong industry demand.</a:t>
            </a:r>
            <a:br>
              <a:rPr lang="en-US" sz="1900"/>
            </a:br>
            <a:endParaRPr lang="en-US" sz="1900"/>
          </a:p>
          <a:p>
            <a:r>
              <a:rPr lang="en-US" sz="1900"/>
              <a:t>Machine Learning and AI-related roles show increasing job opportunities.</a:t>
            </a:r>
            <a:br>
              <a:rPr lang="en-US" sz="1900"/>
            </a:br>
            <a:endParaRPr lang="en-US" sz="1900"/>
          </a:p>
          <a:p>
            <a:r>
              <a:rPr lang="en-US" sz="1900"/>
              <a:t>Both junior and senior positions are actively recruited.</a:t>
            </a:r>
            <a:br>
              <a:rPr lang="en-US" sz="1900"/>
            </a:br>
            <a:endParaRPr lang="en-US" sz="1900"/>
          </a:p>
          <a:p>
            <a:r>
              <a:rPr lang="en-US" sz="1900"/>
              <a:t>Specialized roles such as Data Engineer and Analyst are gaining importance.</a:t>
            </a:r>
            <a:br>
              <a:rPr lang="en-US" sz="1900"/>
            </a:br>
            <a:endParaRPr lang="en-US" sz="1900"/>
          </a:p>
          <a:p>
            <a:r>
              <a:rPr lang="en-US" sz="1900"/>
              <a:t>Multiple job roles indicate diverse career paths in data science.</a:t>
            </a:r>
          </a:p>
          <a:p>
            <a:endParaRPr lang="en-US"/>
          </a:p>
        </p:txBody>
      </p:sp>
    </p:spTree>
    <p:extLst>
      <p:ext uri="{BB962C8B-B14F-4D97-AF65-F5344CB8AC3E}">
        <p14:creationId xmlns:p14="http://schemas.microsoft.com/office/powerpoint/2010/main" val="3126535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BDB2A2-4FAF-C1CA-1E5D-252DF622B1B4}"/>
              </a:ext>
            </a:extLst>
          </p:cNvPr>
          <p:cNvSpPr txBox="1"/>
          <p:nvPr/>
        </p:nvSpPr>
        <p:spPr>
          <a:xfrm>
            <a:off x="707923" y="452284"/>
            <a:ext cx="4532672" cy="400110"/>
          </a:xfrm>
          <a:prstGeom prst="rect">
            <a:avLst/>
          </a:prstGeom>
          <a:noFill/>
        </p:spPr>
        <p:txBody>
          <a:bodyPr wrap="square" rtlCol="0">
            <a:spAutoFit/>
          </a:bodyPr>
          <a:lstStyle/>
          <a:p>
            <a:r>
              <a:rPr lang="en-US" sz="2000" b="1"/>
              <a:t>32.Identification of Top Job Titles</a:t>
            </a:r>
          </a:p>
        </p:txBody>
      </p:sp>
      <p:pic>
        <p:nvPicPr>
          <p:cNvPr id="4" name="Picture 3">
            <a:extLst>
              <a:ext uri="{FF2B5EF4-FFF2-40B4-BE49-F238E27FC236}">
                <a16:creationId xmlns:a16="http://schemas.microsoft.com/office/drawing/2014/main" id="{6B51323D-ED37-F73E-46E0-BD73F4772C8A}"/>
              </a:ext>
            </a:extLst>
          </p:cNvPr>
          <p:cNvPicPr>
            <a:picLocks noChangeAspect="1"/>
          </p:cNvPicPr>
          <p:nvPr/>
        </p:nvPicPr>
        <p:blipFill>
          <a:blip r:embed="rId2"/>
          <a:stretch>
            <a:fillRect/>
          </a:stretch>
        </p:blipFill>
        <p:spPr>
          <a:xfrm>
            <a:off x="2054940" y="895394"/>
            <a:ext cx="7865807" cy="4375354"/>
          </a:xfrm>
          <a:prstGeom prst="rect">
            <a:avLst/>
          </a:prstGeom>
        </p:spPr>
      </p:pic>
      <p:sp>
        <p:nvSpPr>
          <p:cNvPr id="5" name="TextBox 4">
            <a:extLst>
              <a:ext uri="{FF2B5EF4-FFF2-40B4-BE49-F238E27FC236}">
                <a16:creationId xmlns:a16="http://schemas.microsoft.com/office/drawing/2014/main" id="{CF584174-D491-2ED3-50E4-CEAEC2C53914}"/>
              </a:ext>
            </a:extLst>
          </p:cNvPr>
          <p:cNvSpPr txBox="1"/>
          <p:nvPr/>
        </p:nvSpPr>
        <p:spPr>
          <a:xfrm>
            <a:off x="1386349" y="5593274"/>
            <a:ext cx="7462684" cy="369332"/>
          </a:xfrm>
          <a:prstGeom prst="rect">
            <a:avLst/>
          </a:prstGeom>
          <a:noFill/>
        </p:spPr>
        <p:txBody>
          <a:bodyPr wrap="square" rtlCol="0">
            <a:spAutoFit/>
          </a:bodyPr>
          <a:lstStyle/>
          <a:p>
            <a:r>
              <a:rPr lang="en-US"/>
              <a:t>This step identifies the most frequently occurring job titles in the dataset.</a:t>
            </a:r>
          </a:p>
        </p:txBody>
      </p:sp>
    </p:spTree>
    <p:extLst>
      <p:ext uri="{BB962C8B-B14F-4D97-AF65-F5344CB8AC3E}">
        <p14:creationId xmlns:p14="http://schemas.microsoft.com/office/powerpoint/2010/main" val="35554944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B6D79E-C6D0-5FED-6876-497C3980413C}"/>
              </a:ext>
            </a:extLst>
          </p:cNvPr>
          <p:cNvSpPr txBox="1"/>
          <p:nvPr/>
        </p:nvSpPr>
        <p:spPr>
          <a:xfrm>
            <a:off x="412955" y="432619"/>
            <a:ext cx="3480619" cy="400110"/>
          </a:xfrm>
          <a:prstGeom prst="rect">
            <a:avLst/>
          </a:prstGeom>
          <a:noFill/>
        </p:spPr>
        <p:txBody>
          <a:bodyPr wrap="square" rtlCol="0">
            <a:spAutoFit/>
          </a:bodyPr>
          <a:lstStyle/>
          <a:p>
            <a:r>
              <a:rPr lang="en-US" sz="2000" b="1"/>
              <a:t>33.Average Salary by Job Title</a:t>
            </a:r>
          </a:p>
        </p:txBody>
      </p:sp>
      <p:pic>
        <p:nvPicPr>
          <p:cNvPr id="4" name="Picture 3">
            <a:extLst>
              <a:ext uri="{FF2B5EF4-FFF2-40B4-BE49-F238E27FC236}">
                <a16:creationId xmlns:a16="http://schemas.microsoft.com/office/drawing/2014/main" id="{19F8B24E-B8B4-C5F6-0B18-EE79EE4217DA}"/>
              </a:ext>
            </a:extLst>
          </p:cNvPr>
          <p:cNvPicPr>
            <a:picLocks noChangeAspect="1"/>
          </p:cNvPicPr>
          <p:nvPr/>
        </p:nvPicPr>
        <p:blipFill>
          <a:blip r:embed="rId2"/>
          <a:stretch>
            <a:fillRect/>
          </a:stretch>
        </p:blipFill>
        <p:spPr>
          <a:xfrm>
            <a:off x="1730477" y="1012723"/>
            <a:ext cx="8780207" cy="4454012"/>
          </a:xfrm>
          <a:prstGeom prst="rect">
            <a:avLst/>
          </a:prstGeom>
        </p:spPr>
      </p:pic>
      <p:sp>
        <p:nvSpPr>
          <p:cNvPr id="5" name="TextBox 4">
            <a:extLst>
              <a:ext uri="{FF2B5EF4-FFF2-40B4-BE49-F238E27FC236}">
                <a16:creationId xmlns:a16="http://schemas.microsoft.com/office/drawing/2014/main" id="{5E80C0A0-14A3-D346-8ED0-F5BA6C931F35}"/>
              </a:ext>
            </a:extLst>
          </p:cNvPr>
          <p:cNvSpPr txBox="1"/>
          <p:nvPr/>
        </p:nvSpPr>
        <p:spPr>
          <a:xfrm>
            <a:off x="766917" y="5845277"/>
            <a:ext cx="9812594" cy="369332"/>
          </a:xfrm>
          <a:prstGeom prst="rect">
            <a:avLst/>
          </a:prstGeom>
          <a:noFill/>
        </p:spPr>
        <p:txBody>
          <a:bodyPr wrap="square" rtlCol="0">
            <a:spAutoFit/>
          </a:bodyPr>
          <a:lstStyle/>
          <a:p>
            <a:r>
              <a:rPr lang="en-US"/>
              <a:t>The average salary for the most common job titles was calculated using groupby and mean functions.</a:t>
            </a:r>
          </a:p>
        </p:txBody>
      </p:sp>
    </p:spTree>
    <p:extLst>
      <p:ext uri="{BB962C8B-B14F-4D97-AF65-F5344CB8AC3E}">
        <p14:creationId xmlns:p14="http://schemas.microsoft.com/office/powerpoint/2010/main" val="129063426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FC15D0-308C-1122-82FB-83027414377E}"/>
              </a:ext>
            </a:extLst>
          </p:cNvPr>
          <p:cNvSpPr txBox="1"/>
          <p:nvPr/>
        </p:nvSpPr>
        <p:spPr>
          <a:xfrm>
            <a:off x="501446" y="412955"/>
            <a:ext cx="4522838" cy="400110"/>
          </a:xfrm>
          <a:prstGeom prst="rect">
            <a:avLst/>
          </a:prstGeom>
          <a:noFill/>
        </p:spPr>
        <p:txBody>
          <a:bodyPr wrap="square" rtlCol="0">
            <a:spAutoFit/>
          </a:bodyPr>
          <a:lstStyle/>
          <a:p>
            <a:r>
              <a:rPr lang="en-US" sz="2000" b="1"/>
              <a:t>34.Salary Comparison Across Job Titles</a:t>
            </a:r>
          </a:p>
        </p:txBody>
      </p:sp>
      <p:pic>
        <p:nvPicPr>
          <p:cNvPr id="4" name="Picture 3">
            <a:extLst>
              <a:ext uri="{FF2B5EF4-FFF2-40B4-BE49-F238E27FC236}">
                <a16:creationId xmlns:a16="http://schemas.microsoft.com/office/drawing/2014/main" id="{73914EF4-4637-550E-9580-50FAD962E903}"/>
              </a:ext>
            </a:extLst>
          </p:cNvPr>
          <p:cNvPicPr>
            <a:picLocks noChangeAspect="1"/>
          </p:cNvPicPr>
          <p:nvPr/>
        </p:nvPicPr>
        <p:blipFill>
          <a:blip r:embed="rId2"/>
          <a:stretch>
            <a:fillRect/>
          </a:stretch>
        </p:blipFill>
        <p:spPr>
          <a:xfrm>
            <a:off x="1887793" y="1003230"/>
            <a:ext cx="8101782" cy="662997"/>
          </a:xfrm>
          <a:prstGeom prst="rect">
            <a:avLst/>
          </a:prstGeom>
        </p:spPr>
      </p:pic>
      <p:pic>
        <p:nvPicPr>
          <p:cNvPr id="6" name="Picture 5">
            <a:extLst>
              <a:ext uri="{FF2B5EF4-FFF2-40B4-BE49-F238E27FC236}">
                <a16:creationId xmlns:a16="http://schemas.microsoft.com/office/drawing/2014/main" id="{8F6F54DE-8321-D51B-0371-015A6A156744}"/>
              </a:ext>
            </a:extLst>
          </p:cNvPr>
          <p:cNvPicPr>
            <a:picLocks noChangeAspect="1"/>
          </p:cNvPicPr>
          <p:nvPr/>
        </p:nvPicPr>
        <p:blipFill>
          <a:blip r:embed="rId3"/>
          <a:stretch>
            <a:fillRect/>
          </a:stretch>
        </p:blipFill>
        <p:spPr>
          <a:xfrm>
            <a:off x="1209368" y="1740310"/>
            <a:ext cx="9665109" cy="4041058"/>
          </a:xfrm>
          <a:prstGeom prst="rect">
            <a:avLst/>
          </a:prstGeom>
        </p:spPr>
      </p:pic>
      <p:sp>
        <p:nvSpPr>
          <p:cNvPr id="8" name="TextBox 7">
            <a:extLst>
              <a:ext uri="{FF2B5EF4-FFF2-40B4-BE49-F238E27FC236}">
                <a16:creationId xmlns:a16="http://schemas.microsoft.com/office/drawing/2014/main" id="{E34D96D5-0402-489D-EE4C-4F1A465ABACE}"/>
              </a:ext>
            </a:extLst>
          </p:cNvPr>
          <p:cNvSpPr txBox="1"/>
          <p:nvPr/>
        </p:nvSpPr>
        <p:spPr>
          <a:xfrm>
            <a:off x="688258" y="6041411"/>
            <a:ext cx="7816645" cy="369332"/>
          </a:xfrm>
          <a:prstGeom prst="rect">
            <a:avLst/>
          </a:prstGeom>
          <a:noFill/>
        </p:spPr>
        <p:txBody>
          <a:bodyPr wrap="square" rtlCol="0">
            <a:spAutoFit/>
          </a:bodyPr>
          <a:lstStyle/>
          <a:p>
            <a:r>
              <a:rPr lang="en-US"/>
              <a:t>This bar chart compares average salaries of the most in-demand job roles.</a:t>
            </a:r>
          </a:p>
        </p:txBody>
      </p:sp>
    </p:spTree>
    <p:extLst>
      <p:ext uri="{BB962C8B-B14F-4D97-AF65-F5344CB8AC3E}">
        <p14:creationId xmlns:p14="http://schemas.microsoft.com/office/powerpoint/2010/main" val="4646471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162E3-DE20-11F3-9D21-3BC78DA5B019}"/>
              </a:ext>
            </a:extLst>
          </p:cNvPr>
          <p:cNvSpPr>
            <a:spLocks noGrp="1"/>
          </p:cNvSpPr>
          <p:nvPr>
            <p:ph type="title"/>
          </p:nvPr>
        </p:nvSpPr>
        <p:spPr>
          <a:xfrm>
            <a:off x="412956" y="383458"/>
            <a:ext cx="4581832" cy="855408"/>
          </a:xfrm>
        </p:spPr>
        <p:txBody>
          <a:bodyPr>
            <a:normAutofit/>
          </a:bodyPr>
          <a:lstStyle/>
          <a:p>
            <a:r>
              <a:rPr lang="en-US" sz="2000" b="1"/>
              <a:t>35.Insights from Job Title Salary Analysis</a:t>
            </a:r>
            <a:endParaRPr lang="en-US" sz="2000"/>
          </a:p>
        </p:txBody>
      </p:sp>
      <p:sp>
        <p:nvSpPr>
          <p:cNvPr id="3" name="Content Placeholder 2">
            <a:extLst>
              <a:ext uri="{FF2B5EF4-FFF2-40B4-BE49-F238E27FC236}">
                <a16:creationId xmlns:a16="http://schemas.microsoft.com/office/drawing/2014/main" id="{8D736A8D-FEAB-90C3-AA53-2A59EFF90A45}"/>
              </a:ext>
            </a:extLst>
          </p:cNvPr>
          <p:cNvSpPr>
            <a:spLocks noGrp="1"/>
          </p:cNvSpPr>
          <p:nvPr>
            <p:ph idx="1"/>
          </p:nvPr>
        </p:nvSpPr>
        <p:spPr>
          <a:xfrm>
            <a:off x="1956618" y="1825625"/>
            <a:ext cx="7393859" cy="3247820"/>
          </a:xfrm>
        </p:spPr>
        <p:txBody>
          <a:bodyPr>
            <a:normAutofit/>
          </a:bodyPr>
          <a:lstStyle/>
          <a:p>
            <a:r>
              <a:rPr lang="en-US" sz="1800"/>
              <a:t>Senior and specialized job titles receive higher average salaries.</a:t>
            </a:r>
            <a:br>
              <a:rPr lang="en-US" sz="1800"/>
            </a:br>
            <a:endParaRPr lang="en-US" sz="1800"/>
          </a:p>
          <a:p>
            <a:r>
              <a:rPr lang="en-US" sz="1800"/>
              <a:t>Junior and entry-level positions offer comparatively lower salaries.</a:t>
            </a:r>
            <a:br>
              <a:rPr lang="en-US" sz="1800"/>
            </a:br>
            <a:endParaRPr lang="en-US" sz="1800"/>
          </a:p>
          <a:p>
            <a:r>
              <a:rPr lang="en-US" sz="1800"/>
              <a:t>Job titles requiring advanced technical skills provide better compensation.</a:t>
            </a:r>
            <a:br>
              <a:rPr lang="en-US" sz="1800"/>
            </a:br>
            <a:endParaRPr lang="en-US" sz="1800"/>
          </a:p>
          <a:p>
            <a:r>
              <a:rPr lang="en-US" sz="1800"/>
              <a:t>Some popular roles have high demand but moderate salary levels.</a:t>
            </a:r>
            <a:br>
              <a:rPr lang="en-US" sz="1800"/>
            </a:br>
            <a:endParaRPr lang="en-US" sz="1800"/>
          </a:p>
          <a:p>
            <a:r>
              <a:rPr lang="en-US" sz="1800"/>
              <a:t>Professionals can increase salary by moving to advanced roles.</a:t>
            </a:r>
          </a:p>
          <a:p>
            <a:endParaRPr lang="en-US"/>
          </a:p>
        </p:txBody>
      </p:sp>
    </p:spTree>
    <p:extLst>
      <p:ext uri="{BB962C8B-B14F-4D97-AF65-F5344CB8AC3E}">
        <p14:creationId xmlns:p14="http://schemas.microsoft.com/office/powerpoint/2010/main" val="6282188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CFD0BF-CAC7-4706-AADB-976963C0D645}"/>
              </a:ext>
            </a:extLst>
          </p:cNvPr>
          <p:cNvSpPr txBox="1"/>
          <p:nvPr/>
        </p:nvSpPr>
        <p:spPr>
          <a:xfrm>
            <a:off x="462116" y="294968"/>
            <a:ext cx="4041057" cy="400110"/>
          </a:xfrm>
          <a:prstGeom prst="rect">
            <a:avLst/>
          </a:prstGeom>
          <a:noFill/>
        </p:spPr>
        <p:txBody>
          <a:bodyPr wrap="square" rtlCol="0">
            <a:spAutoFit/>
          </a:bodyPr>
          <a:lstStyle/>
          <a:p>
            <a:r>
              <a:rPr lang="en-US" sz="2000" b="1"/>
              <a:t>36.Identification of Skill Attributes</a:t>
            </a:r>
          </a:p>
        </p:txBody>
      </p:sp>
      <p:pic>
        <p:nvPicPr>
          <p:cNvPr id="4" name="Picture 3">
            <a:extLst>
              <a:ext uri="{FF2B5EF4-FFF2-40B4-BE49-F238E27FC236}">
                <a16:creationId xmlns:a16="http://schemas.microsoft.com/office/drawing/2014/main" id="{E3FDA7D4-DF48-A40E-B72B-1FDDE632A9D8}"/>
              </a:ext>
            </a:extLst>
          </p:cNvPr>
          <p:cNvPicPr>
            <a:picLocks noChangeAspect="1"/>
          </p:cNvPicPr>
          <p:nvPr/>
        </p:nvPicPr>
        <p:blipFill>
          <a:blip r:embed="rId2"/>
          <a:stretch>
            <a:fillRect/>
          </a:stretch>
        </p:blipFill>
        <p:spPr>
          <a:xfrm>
            <a:off x="1582995" y="884903"/>
            <a:ext cx="9202992" cy="4304469"/>
          </a:xfrm>
          <a:prstGeom prst="rect">
            <a:avLst/>
          </a:prstGeom>
        </p:spPr>
      </p:pic>
      <p:sp>
        <p:nvSpPr>
          <p:cNvPr id="5" name="TextBox 4">
            <a:extLst>
              <a:ext uri="{FF2B5EF4-FFF2-40B4-BE49-F238E27FC236}">
                <a16:creationId xmlns:a16="http://schemas.microsoft.com/office/drawing/2014/main" id="{4A71621C-C5B7-21D0-E24B-A37099A07077}"/>
              </a:ext>
            </a:extLst>
          </p:cNvPr>
          <p:cNvSpPr txBox="1"/>
          <p:nvPr/>
        </p:nvSpPr>
        <p:spPr>
          <a:xfrm>
            <a:off x="609600" y="5683045"/>
            <a:ext cx="7669162" cy="369332"/>
          </a:xfrm>
          <a:prstGeom prst="rect">
            <a:avLst/>
          </a:prstGeom>
          <a:noFill/>
        </p:spPr>
        <p:txBody>
          <a:bodyPr wrap="square" rtlCol="0">
            <a:spAutoFit/>
          </a:bodyPr>
          <a:lstStyle/>
          <a:p>
            <a:r>
              <a:rPr lang="en-US"/>
              <a:t>This step identifies technical skill columns required for job analysis.</a:t>
            </a:r>
          </a:p>
        </p:txBody>
      </p:sp>
    </p:spTree>
    <p:extLst>
      <p:ext uri="{BB962C8B-B14F-4D97-AF65-F5344CB8AC3E}">
        <p14:creationId xmlns:p14="http://schemas.microsoft.com/office/powerpoint/2010/main" val="38242490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76D5C02-0A8C-B7F5-EA0A-71CD758FA92E}"/>
              </a:ext>
            </a:extLst>
          </p:cNvPr>
          <p:cNvSpPr txBox="1"/>
          <p:nvPr/>
        </p:nvSpPr>
        <p:spPr>
          <a:xfrm>
            <a:off x="570271" y="412955"/>
            <a:ext cx="3539613" cy="400110"/>
          </a:xfrm>
          <a:prstGeom prst="rect">
            <a:avLst/>
          </a:prstGeom>
          <a:noFill/>
        </p:spPr>
        <p:txBody>
          <a:bodyPr wrap="square" rtlCol="0">
            <a:spAutoFit/>
          </a:bodyPr>
          <a:lstStyle/>
          <a:p>
            <a:r>
              <a:rPr lang="en-US" sz="2000" b="1"/>
              <a:t>37.Selection of Major Job Roles</a:t>
            </a:r>
          </a:p>
        </p:txBody>
      </p:sp>
      <p:pic>
        <p:nvPicPr>
          <p:cNvPr id="4" name="Picture 3">
            <a:extLst>
              <a:ext uri="{FF2B5EF4-FFF2-40B4-BE49-F238E27FC236}">
                <a16:creationId xmlns:a16="http://schemas.microsoft.com/office/drawing/2014/main" id="{12543B94-79FC-CAC4-2D5D-F6EBF05FDA65}"/>
              </a:ext>
            </a:extLst>
          </p:cNvPr>
          <p:cNvPicPr>
            <a:picLocks noChangeAspect="1"/>
          </p:cNvPicPr>
          <p:nvPr/>
        </p:nvPicPr>
        <p:blipFill>
          <a:blip r:embed="rId2"/>
          <a:stretch>
            <a:fillRect/>
          </a:stretch>
        </p:blipFill>
        <p:spPr>
          <a:xfrm>
            <a:off x="1425677" y="943896"/>
            <a:ext cx="8878529" cy="4375355"/>
          </a:xfrm>
          <a:prstGeom prst="rect">
            <a:avLst/>
          </a:prstGeom>
        </p:spPr>
      </p:pic>
      <p:sp>
        <p:nvSpPr>
          <p:cNvPr id="5" name="TextBox 4">
            <a:extLst>
              <a:ext uri="{FF2B5EF4-FFF2-40B4-BE49-F238E27FC236}">
                <a16:creationId xmlns:a16="http://schemas.microsoft.com/office/drawing/2014/main" id="{FCC8F527-A167-84A4-32BA-FADBAD3782DC}"/>
              </a:ext>
            </a:extLst>
          </p:cNvPr>
          <p:cNvSpPr txBox="1"/>
          <p:nvPr/>
        </p:nvSpPr>
        <p:spPr>
          <a:xfrm>
            <a:off x="1120878" y="5702710"/>
            <a:ext cx="7148052" cy="369332"/>
          </a:xfrm>
          <a:prstGeom prst="rect">
            <a:avLst/>
          </a:prstGeom>
          <a:noFill/>
        </p:spPr>
        <p:txBody>
          <a:bodyPr wrap="square" rtlCol="0">
            <a:spAutoFit/>
          </a:bodyPr>
          <a:lstStyle/>
          <a:p>
            <a:r>
              <a:rPr lang="en-US"/>
              <a:t>The top job titles were selected for skill requirement analysis.</a:t>
            </a:r>
          </a:p>
        </p:txBody>
      </p:sp>
    </p:spTree>
    <p:extLst>
      <p:ext uri="{BB962C8B-B14F-4D97-AF65-F5344CB8AC3E}">
        <p14:creationId xmlns:p14="http://schemas.microsoft.com/office/powerpoint/2010/main" val="26256771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9525FA4-A85C-4715-881B-835203C82EFC}"/>
              </a:ext>
            </a:extLst>
          </p:cNvPr>
          <p:cNvSpPr txBox="1"/>
          <p:nvPr/>
        </p:nvSpPr>
        <p:spPr>
          <a:xfrm>
            <a:off x="521110" y="462116"/>
            <a:ext cx="4552335" cy="400110"/>
          </a:xfrm>
          <a:prstGeom prst="rect">
            <a:avLst/>
          </a:prstGeom>
          <a:noFill/>
        </p:spPr>
        <p:txBody>
          <a:bodyPr wrap="square" rtlCol="0">
            <a:spAutoFit/>
          </a:bodyPr>
          <a:lstStyle/>
          <a:p>
            <a:r>
              <a:rPr lang="en-US" sz="2000" b="1"/>
              <a:t>38.Skill Distribution by Job Title</a:t>
            </a:r>
          </a:p>
        </p:txBody>
      </p:sp>
      <p:pic>
        <p:nvPicPr>
          <p:cNvPr id="4" name="Picture 3">
            <a:extLst>
              <a:ext uri="{FF2B5EF4-FFF2-40B4-BE49-F238E27FC236}">
                <a16:creationId xmlns:a16="http://schemas.microsoft.com/office/drawing/2014/main" id="{541C23CF-2CF0-4984-9F0F-E3A4B3AAEFBD}"/>
              </a:ext>
            </a:extLst>
          </p:cNvPr>
          <p:cNvPicPr>
            <a:picLocks noChangeAspect="1"/>
          </p:cNvPicPr>
          <p:nvPr/>
        </p:nvPicPr>
        <p:blipFill>
          <a:blip r:embed="rId2"/>
          <a:stretch>
            <a:fillRect/>
          </a:stretch>
        </p:blipFill>
        <p:spPr>
          <a:xfrm>
            <a:off x="624366" y="1101213"/>
            <a:ext cx="10943268" cy="4562167"/>
          </a:xfrm>
          <a:prstGeom prst="rect">
            <a:avLst/>
          </a:prstGeom>
        </p:spPr>
      </p:pic>
      <p:sp>
        <p:nvSpPr>
          <p:cNvPr id="5" name="TextBox 4">
            <a:extLst>
              <a:ext uri="{FF2B5EF4-FFF2-40B4-BE49-F238E27FC236}">
                <a16:creationId xmlns:a16="http://schemas.microsoft.com/office/drawing/2014/main" id="{450050D2-32C8-440A-67B8-D345C266875F}"/>
              </a:ext>
            </a:extLst>
          </p:cNvPr>
          <p:cNvSpPr txBox="1"/>
          <p:nvPr/>
        </p:nvSpPr>
        <p:spPr>
          <a:xfrm>
            <a:off x="707923" y="5968180"/>
            <a:ext cx="7983793" cy="369332"/>
          </a:xfrm>
          <a:prstGeom prst="rect">
            <a:avLst/>
          </a:prstGeom>
          <a:noFill/>
        </p:spPr>
        <p:txBody>
          <a:bodyPr wrap="square" rtlCol="0">
            <a:spAutoFit/>
          </a:bodyPr>
          <a:lstStyle/>
          <a:p>
            <a:r>
              <a:rPr lang="en-US"/>
              <a:t>This table shows the percentage of skill requirements for different job roles.</a:t>
            </a:r>
          </a:p>
        </p:txBody>
      </p:sp>
    </p:spTree>
    <p:extLst>
      <p:ext uri="{BB962C8B-B14F-4D97-AF65-F5344CB8AC3E}">
        <p14:creationId xmlns:p14="http://schemas.microsoft.com/office/powerpoint/2010/main" val="23500940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309DCB-055C-9AFB-8F3E-34571BE56ADB}"/>
              </a:ext>
            </a:extLst>
          </p:cNvPr>
          <p:cNvSpPr txBox="1"/>
          <p:nvPr/>
        </p:nvSpPr>
        <p:spPr>
          <a:xfrm>
            <a:off x="462116" y="403123"/>
            <a:ext cx="5368413" cy="400110"/>
          </a:xfrm>
          <a:prstGeom prst="rect">
            <a:avLst/>
          </a:prstGeom>
          <a:noFill/>
        </p:spPr>
        <p:txBody>
          <a:bodyPr wrap="square" rtlCol="0">
            <a:spAutoFit/>
          </a:bodyPr>
          <a:lstStyle/>
          <a:p>
            <a:r>
              <a:rPr lang="en-US" sz="2000" b="1"/>
              <a:t>39.Skill Demand Comparison Across Job Roles</a:t>
            </a:r>
          </a:p>
        </p:txBody>
      </p:sp>
      <p:pic>
        <p:nvPicPr>
          <p:cNvPr id="4" name="Picture 3">
            <a:extLst>
              <a:ext uri="{FF2B5EF4-FFF2-40B4-BE49-F238E27FC236}">
                <a16:creationId xmlns:a16="http://schemas.microsoft.com/office/drawing/2014/main" id="{00C4968A-31AB-1F7E-1654-4A41E8599FEB}"/>
              </a:ext>
            </a:extLst>
          </p:cNvPr>
          <p:cNvPicPr>
            <a:picLocks noChangeAspect="1"/>
          </p:cNvPicPr>
          <p:nvPr/>
        </p:nvPicPr>
        <p:blipFill>
          <a:blip r:embed="rId2"/>
          <a:stretch>
            <a:fillRect/>
          </a:stretch>
        </p:blipFill>
        <p:spPr>
          <a:xfrm>
            <a:off x="1001588" y="1061883"/>
            <a:ext cx="10188823" cy="4611329"/>
          </a:xfrm>
          <a:prstGeom prst="rect">
            <a:avLst/>
          </a:prstGeom>
        </p:spPr>
      </p:pic>
      <p:sp>
        <p:nvSpPr>
          <p:cNvPr id="5" name="TextBox 4">
            <a:extLst>
              <a:ext uri="{FF2B5EF4-FFF2-40B4-BE49-F238E27FC236}">
                <a16:creationId xmlns:a16="http://schemas.microsoft.com/office/drawing/2014/main" id="{E88F0867-4A04-FFBE-3A91-291A1DC955AE}"/>
              </a:ext>
            </a:extLst>
          </p:cNvPr>
          <p:cNvSpPr txBox="1"/>
          <p:nvPr/>
        </p:nvSpPr>
        <p:spPr>
          <a:xfrm>
            <a:off x="875071" y="5919019"/>
            <a:ext cx="7393859" cy="369332"/>
          </a:xfrm>
          <a:prstGeom prst="rect">
            <a:avLst/>
          </a:prstGeom>
          <a:noFill/>
        </p:spPr>
        <p:txBody>
          <a:bodyPr wrap="square" rtlCol="0">
            <a:spAutoFit/>
          </a:bodyPr>
          <a:lstStyle/>
          <a:p>
            <a:r>
              <a:rPr lang="en-US"/>
              <a:t>The chart compares technical skills required for different job titles.</a:t>
            </a:r>
          </a:p>
        </p:txBody>
      </p:sp>
    </p:spTree>
    <p:extLst>
      <p:ext uri="{BB962C8B-B14F-4D97-AF65-F5344CB8AC3E}">
        <p14:creationId xmlns:p14="http://schemas.microsoft.com/office/powerpoint/2010/main" val="163785309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147E5-F646-D9E0-5394-988F8858CC6C}"/>
              </a:ext>
            </a:extLst>
          </p:cNvPr>
          <p:cNvSpPr>
            <a:spLocks noGrp="1"/>
          </p:cNvSpPr>
          <p:nvPr>
            <p:ph type="title"/>
          </p:nvPr>
        </p:nvSpPr>
        <p:spPr>
          <a:xfrm>
            <a:off x="511278" y="373626"/>
            <a:ext cx="3569110" cy="816078"/>
          </a:xfrm>
        </p:spPr>
        <p:txBody>
          <a:bodyPr>
            <a:normAutofit/>
          </a:bodyPr>
          <a:lstStyle/>
          <a:p>
            <a:r>
              <a:rPr lang="en-US" sz="2000" b="1"/>
              <a:t>40.Insights from Skill Analysis</a:t>
            </a:r>
          </a:p>
        </p:txBody>
      </p:sp>
      <p:sp>
        <p:nvSpPr>
          <p:cNvPr id="3" name="Content Placeholder 2">
            <a:extLst>
              <a:ext uri="{FF2B5EF4-FFF2-40B4-BE49-F238E27FC236}">
                <a16:creationId xmlns:a16="http://schemas.microsoft.com/office/drawing/2014/main" id="{DE591EE7-9DB3-20A8-E6F2-62F9F699A99E}"/>
              </a:ext>
            </a:extLst>
          </p:cNvPr>
          <p:cNvSpPr>
            <a:spLocks noGrp="1"/>
          </p:cNvSpPr>
          <p:nvPr>
            <p:ph idx="1"/>
          </p:nvPr>
        </p:nvSpPr>
        <p:spPr>
          <a:xfrm>
            <a:off x="1976284" y="1756799"/>
            <a:ext cx="7246374" cy="3405136"/>
          </a:xfrm>
        </p:spPr>
        <p:txBody>
          <a:bodyPr>
            <a:normAutofit/>
          </a:bodyPr>
          <a:lstStyle/>
          <a:p>
            <a:r>
              <a:rPr lang="en-US" sz="1800"/>
              <a:t>Python appears as the most commonly required skill across job roles.</a:t>
            </a:r>
            <a:br>
              <a:rPr lang="en-US" sz="1800"/>
            </a:br>
            <a:endParaRPr lang="en-US" sz="1800"/>
          </a:p>
          <a:p>
            <a:r>
              <a:rPr lang="en-US" sz="1800"/>
              <a:t>SQL and Excel are widely required for data handling and analysis.</a:t>
            </a:r>
            <a:br>
              <a:rPr lang="en-US" sz="1800"/>
            </a:br>
            <a:endParaRPr lang="en-US" sz="1800"/>
          </a:p>
          <a:p>
            <a:r>
              <a:rPr lang="en-US" sz="1800"/>
              <a:t>Machine Learning roles require TensorFlow, PyTorch, and Keras.</a:t>
            </a:r>
            <a:br>
              <a:rPr lang="en-US" sz="1800"/>
            </a:br>
            <a:endParaRPr lang="en-US" sz="1800"/>
          </a:p>
          <a:p>
            <a:r>
              <a:rPr lang="en-US" sz="1800"/>
              <a:t>Hadoop and Spark are required in data engineering roles.</a:t>
            </a:r>
            <a:br>
              <a:rPr lang="en-US" sz="1800"/>
            </a:br>
            <a:endParaRPr lang="en-US" sz="1800"/>
          </a:p>
          <a:p>
            <a:r>
              <a:rPr lang="en-US" sz="1800"/>
              <a:t>Tableau and BI tools are important for analyst roles.</a:t>
            </a:r>
          </a:p>
          <a:p>
            <a:endParaRPr lang="en-US"/>
          </a:p>
        </p:txBody>
      </p:sp>
    </p:spTree>
    <p:extLst>
      <p:ext uri="{BB962C8B-B14F-4D97-AF65-F5344CB8AC3E}">
        <p14:creationId xmlns:p14="http://schemas.microsoft.com/office/powerpoint/2010/main" val="4561933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CFE927-49CA-4A31-71D7-11F08C33253E}"/>
              </a:ext>
            </a:extLst>
          </p:cNvPr>
          <p:cNvSpPr txBox="1"/>
          <p:nvPr/>
        </p:nvSpPr>
        <p:spPr>
          <a:xfrm>
            <a:off x="462117" y="324465"/>
            <a:ext cx="3873909" cy="400110"/>
          </a:xfrm>
          <a:prstGeom prst="rect">
            <a:avLst/>
          </a:prstGeom>
          <a:noFill/>
        </p:spPr>
        <p:txBody>
          <a:bodyPr wrap="square" rtlCol="0">
            <a:spAutoFit/>
          </a:bodyPr>
          <a:lstStyle/>
          <a:p>
            <a:r>
              <a:rPr lang="en-US" sz="2000" b="1"/>
              <a:t>41.Verification of Education Data</a:t>
            </a:r>
          </a:p>
        </p:txBody>
      </p:sp>
      <p:pic>
        <p:nvPicPr>
          <p:cNvPr id="4" name="Picture 3">
            <a:extLst>
              <a:ext uri="{FF2B5EF4-FFF2-40B4-BE49-F238E27FC236}">
                <a16:creationId xmlns:a16="http://schemas.microsoft.com/office/drawing/2014/main" id="{FF58FCC1-EAD6-E054-91F8-838959CE3530}"/>
              </a:ext>
            </a:extLst>
          </p:cNvPr>
          <p:cNvPicPr>
            <a:picLocks noChangeAspect="1"/>
          </p:cNvPicPr>
          <p:nvPr/>
        </p:nvPicPr>
        <p:blipFill>
          <a:blip r:embed="rId2"/>
          <a:stretch>
            <a:fillRect/>
          </a:stretch>
        </p:blipFill>
        <p:spPr>
          <a:xfrm>
            <a:off x="1907458" y="1081548"/>
            <a:ext cx="8318090" cy="3559278"/>
          </a:xfrm>
          <a:prstGeom prst="rect">
            <a:avLst/>
          </a:prstGeom>
        </p:spPr>
      </p:pic>
      <p:sp>
        <p:nvSpPr>
          <p:cNvPr id="5" name="TextBox 4">
            <a:extLst>
              <a:ext uri="{FF2B5EF4-FFF2-40B4-BE49-F238E27FC236}">
                <a16:creationId xmlns:a16="http://schemas.microsoft.com/office/drawing/2014/main" id="{639AAE51-2B45-8498-F0E9-28AE87DE41ED}"/>
              </a:ext>
            </a:extLst>
          </p:cNvPr>
          <p:cNvSpPr txBox="1"/>
          <p:nvPr/>
        </p:nvSpPr>
        <p:spPr>
          <a:xfrm>
            <a:off x="1052052" y="5503931"/>
            <a:ext cx="8396749" cy="369332"/>
          </a:xfrm>
          <a:prstGeom prst="rect">
            <a:avLst/>
          </a:prstGeom>
          <a:noFill/>
        </p:spPr>
        <p:txBody>
          <a:bodyPr wrap="square" rtlCol="0">
            <a:spAutoFit/>
          </a:bodyPr>
          <a:lstStyle/>
          <a:p>
            <a:r>
              <a:rPr lang="en-US"/>
              <a:t>This step checks the distribution of educational qualifications in the dataset.</a:t>
            </a:r>
          </a:p>
        </p:txBody>
      </p:sp>
    </p:spTree>
    <p:extLst>
      <p:ext uri="{BB962C8B-B14F-4D97-AF65-F5344CB8AC3E}">
        <p14:creationId xmlns:p14="http://schemas.microsoft.com/office/powerpoint/2010/main" val="1134070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81805C-97E2-7A33-D27E-76125723B989}"/>
              </a:ext>
            </a:extLst>
          </p:cNvPr>
          <p:cNvSpPr txBox="1"/>
          <p:nvPr/>
        </p:nvSpPr>
        <p:spPr>
          <a:xfrm>
            <a:off x="285135" y="403122"/>
            <a:ext cx="4227871" cy="400110"/>
          </a:xfrm>
          <a:prstGeom prst="rect">
            <a:avLst/>
          </a:prstGeom>
          <a:noFill/>
        </p:spPr>
        <p:txBody>
          <a:bodyPr wrap="square" rtlCol="0">
            <a:spAutoFit/>
          </a:bodyPr>
          <a:lstStyle/>
          <a:p>
            <a:r>
              <a:rPr lang="en-US" sz="2000" b="1"/>
              <a:t>42.Average Salary by Education Level</a:t>
            </a:r>
          </a:p>
        </p:txBody>
      </p:sp>
      <p:pic>
        <p:nvPicPr>
          <p:cNvPr id="4" name="Picture 3">
            <a:extLst>
              <a:ext uri="{FF2B5EF4-FFF2-40B4-BE49-F238E27FC236}">
                <a16:creationId xmlns:a16="http://schemas.microsoft.com/office/drawing/2014/main" id="{1510E256-716E-2341-2A0E-621778DC2630}"/>
              </a:ext>
            </a:extLst>
          </p:cNvPr>
          <p:cNvPicPr>
            <a:picLocks noChangeAspect="1"/>
          </p:cNvPicPr>
          <p:nvPr/>
        </p:nvPicPr>
        <p:blipFill>
          <a:blip r:embed="rId2"/>
          <a:stretch>
            <a:fillRect/>
          </a:stretch>
        </p:blipFill>
        <p:spPr>
          <a:xfrm>
            <a:off x="1592826" y="953729"/>
            <a:ext cx="8544233" cy="3490452"/>
          </a:xfrm>
          <a:prstGeom prst="rect">
            <a:avLst/>
          </a:prstGeom>
        </p:spPr>
      </p:pic>
      <p:sp>
        <p:nvSpPr>
          <p:cNvPr id="5" name="TextBox 4">
            <a:extLst>
              <a:ext uri="{FF2B5EF4-FFF2-40B4-BE49-F238E27FC236}">
                <a16:creationId xmlns:a16="http://schemas.microsoft.com/office/drawing/2014/main" id="{A3B1253A-082F-09E5-CE32-AE98423EABE1}"/>
              </a:ext>
            </a:extLst>
          </p:cNvPr>
          <p:cNvSpPr txBox="1"/>
          <p:nvPr/>
        </p:nvSpPr>
        <p:spPr>
          <a:xfrm>
            <a:off x="1047134" y="4798142"/>
            <a:ext cx="6931743" cy="923330"/>
          </a:xfrm>
          <a:prstGeom prst="rect">
            <a:avLst/>
          </a:prstGeom>
          <a:noFill/>
        </p:spPr>
        <p:txBody>
          <a:bodyPr wrap="square" rtlCol="0">
            <a:spAutoFit/>
          </a:bodyPr>
          <a:lstStyle/>
          <a:p>
            <a:r>
              <a:rPr lang="en-US"/>
              <a:t>The average salary was calculated based on educational qualification.</a:t>
            </a:r>
          </a:p>
          <a:p>
            <a:r>
              <a:rPr lang="en-US" b="1"/>
              <a:t>“na” </a:t>
            </a:r>
            <a:r>
              <a:rPr lang="en-US"/>
              <a:t>category represents missing education information and is analyzed separately.</a:t>
            </a:r>
          </a:p>
        </p:txBody>
      </p:sp>
    </p:spTree>
    <p:extLst>
      <p:ext uri="{BB962C8B-B14F-4D97-AF65-F5344CB8AC3E}">
        <p14:creationId xmlns:p14="http://schemas.microsoft.com/office/powerpoint/2010/main" val="28484476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92F0D30-B74A-98E6-3A5E-702E7F8E1E90}"/>
              </a:ext>
            </a:extLst>
          </p:cNvPr>
          <p:cNvSpPr txBox="1"/>
          <p:nvPr/>
        </p:nvSpPr>
        <p:spPr>
          <a:xfrm>
            <a:off x="265471" y="255640"/>
            <a:ext cx="4611329" cy="400110"/>
          </a:xfrm>
          <a:prstGeom prst="rect">
            <a:avLst/>
          </a:prstGeom>
          <a:noFill/>
        </p:spPr>
        <p:txBody>
          <a:bodyPr wrap="square" rtlCol="0">
            <a:spAutoFit/>
          </a:bodyPr>
          <a:lstStyle/>
          <a:p>
            <a:r>
              <a:rPr lang="en-US" sz="2000" b="1"/>
              <a:t>43.Salary Comparison Based on Education</a:t>
            </a:r>
          </a:p>
        </p:txBody>
      </p:sp>
      <p:pic>
        <p:nvPicPr>
          <p:cNvPr id="4" name="Picture 3">
            <a:extLst>
              <a:ext uri="{FF2B5EF4-FFF2-40B4-BE49-F238E27FC236}">
                <a16:creationId xmlns:a16="http://schemas.microsoft.com/office/drawing/2014/main" id="{8A331781-7D2E-144D-B9C6-0A4D0DE38B65}"/>
              </a:ext>
            </a:extLst>
          </p:cNvPr>
          <p:cNvPicPr>
            <a:picLocks noChangeAspect="1"/>
          </p:cNvPicPr>
          <p:nvPr/>
        </p:nvPicPr>
        <p:blipFill>
          <a:blip r:embed="rId2"/>
          <a:stretch>
            <a:fillRect/>
          </a:stretch>
        </p:blipFill>
        <p:spPr>
          <a:xfrm>
            <a:off x="1553497" y="894735"/>
            <a:ext cx="9615948" cy="4070555"/>
          </a:xfrm>
          <a:prstGeom prst="rect">
            <a:avLst/>
          </a:prstGeom>
        </p:spPr>
      </p:pic>
      <p:sp>
        <p:nvSpPr>
          <p:cNvPr id="5" name="TextBox 4">
            <a:extLst>
              <a:ext uri="{FF2B5EF4-FFF2-40B4-BE49-F238E27FC236}">
                <a16:creationId xmlns:a16="http://schemas.microsoft.com/office/drawing/2014/main" id="{6065426D-88D8-7964-6AE8-B7FF5B9E28A1}"/>
              </a:ext>
            </a:extLst>
          </p:cNvPr>
          <p:cNvSpPr txBox="1"/>
          <p:nvPr/>
        </p:nvSpPr>
        <p:spPr>
          <a:xfrm>
            <a:off x="1248697" y="5574890"/>
            <a:ext cx="5692877" cy="369332"/>
          </a:xfrm>
          <a:prstGeom prst="rect">
            <a:avLst/>
          </a:prstGeom>
          <a:noFill/>
        </p:spPr>
        <p:txBody>
          <a:bodyPr wrap="square" rtlCol="0">
            <a:spAutoFit/>
          </a:bodyPr>
          <a:lstStyle/>
          <a:p>
            <a:r>
              <a:rPr lang="en-US"/>
              <a:t>This chart shows how salary varies with education level.</a:t>
            </a:r>
          </a:p>
        </p:txBody>
      </p:sp>
    </p:spTree>
    <p:extLst>
      <p:ext uri="{BB962C8B-B14F-4D97-AF65-F5344CB8AC3E}">
        <p14:creationId xmlns:p14="http://schemas.microsoft.com/office/powerpoint/2010/main" val="5127440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FC39E-5FCB-A756-8CF9-6A4C2BAB6650}"/>
              </a:ext>
            </a:extLst>
          </p:cNvPr>
          <p:cNvSpPr>
            <a:spLocks noGrp="1"/>
          </p:cNvSpPr>
          <p:nvPr>
            <p:ph type="title"/>
          </p:nvPr>
        </p:nvSpPr>
        <p:spPr>
          <a:xfrm>
            <a:off x="442452" y="511278"/>
            <a:ext cx="4837471" cy="511278"/>
          </a:xfrm>
        </p:spPr>
        <p:txBody>
          <a:bodyPr>
            <a:normAutofit/>
          </a:bodyPr>
          <a:lstStyle/>
          <a:p>
            <a:r>
              <a:rPr lang="en-US" sz="2000" b="1"/>
              <a:t>44.Insights from Education vs Salary Analysis</a:t>
            </a:r>
          </a:p>
        </p:txBody>
      </p:sp>
      <p:sp>
        <p:nvSpPr>
          <p:cNvPr id="3" name="Content Placeholder 2">
            <a:extLst>
              <a:ext uri="{FF2B5EF4-FFF2-40B4-BE49-F238E27FC236}">
                <a16:creationId xmlns:a16="http://schemas.microsoft.com/office/drawing/2014/main" id="{495E5AA4-9A5B-FCD8-CE97-89D59DDDD493}"/>
              </a:ext>
            </a:extLst>
          </p:cNvPr>
          <p:cNvSpPr>
            <a:spLocks noGrp="1"/>
          </p:cNvSpPr>
          <p:nvPr>
            <p:ph idx="1"/>
          </p:nvPr>
        </p:nvSpPr>
        <p:spPr>
          <a:xfrm>
            <a:off x="2271252" y="1825625"/>
            <a:ext cx="7924800" cy="3306814"/>
          </a:xfrm>
        </p:spPr>
        <p:txBody>
          <a:bodyPr>
            <a:normAutofit/>
          </a:bodyPr>
          <a:lstStyle/>
          <a:p>
            <a:r>
              <a:rPr lang="en-US" sz="1800"/>
              <a:t>Jobs requiring PhD or Master’s degrees offer higher average salaries.</a:t>
            </a:r>
            <a:br>
              <a:rPr lang="en-US" sz="1800"/>
            </a:br>
            <a:endParaRPr lang="en-US" sz="1800"/>
          </a:p>
          <a:p>
            <a:r>
              <a:rPr lang="en-US" sz="1800"/>
              <a:t>PhD candidates receive the highest compensation among all categories.</a:t>
            </a:r>
            <a:br>
              <a:rPr lang="en-US" sz="1800"/>
            </a:br>
            <a:endParaRPr lang="en-US" sz="1800"/>
          </a:p>
          <a:p>
            <a:r>
              <a:rPr lang="en-US" sz="1800"/>
              <a:t>Companies offering degree-based experience credit pay better salaries.</a:t>
            </a:r>
            <a:br>
              <a:rPr lang="en-US" sz="1800"/>
            </a:br>
            <a:endParaRPr lang="en-US" sz="1800"/>
          </a:p>
          <a:p>
            <a:r>
              <a:rPr lang="en-US" sz="1800"/>
              <a:t>Some roles offer good salary even without advanced degrees.</a:t>
            </a:r>
            <a:br>
              <a:rPr lang="en-US" sz="1800"/>
            </a:br>
            <a:endParaRPr lang="en-US" sz="1800"/>
          </a:p>
          <a:p>
            <a:r>
              <a:rPr lang="en-US" sz="1800"/>
              <a:t>Higher education increases chances of better roles and long-term growth.</a:t>
            </a:r>
          </a:p>
          <a:p>
            <a:endParaRPr lang="en-US"/>
          </a:p>
        </p:txBody>
      </p:sp>
    </p:spTree>
    <p:extLst>
      <p:ext uri="{BB962C8B-B14F-4D97-AF65-F5344CB8AC3E}">
        <p14:creationId xmlns:p14="http://schemas.microsoft.com/office/powerpoint/2010/main" val="1697165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F5E828-C7E3-066C-4DC7-0983B62FBA19}"/>
              </a:ext>
            </a:extLst>
          </p:cNvPr>
          <p:cNvSpPr txBox="1"/>
          <p:nvPr/>
        </p:nvSpPr>
        <p:spPr>
          <a:xfrm>
            <a:off x="422788" y="363794"/>
            <a:ext cx="3569110" cy="400110"/>
          </a:xfrm>
          <a:prstGeom prst="rect">
            <a:avLst/>
          </a:prstGeom>
          <a:noFill/>
        </p:spPr>
        <p:txBody>
          <a:bodyPr wrap="square" rtlCol="0">
            <a:spAutoFit/>
          </a:bodyPr>
          <a:lstStyle/>
          <a:p>
            <a:r>
              <a:rPr lang="en-US" sz="2000" b="1"/>
              <a:t>45.Dataset Summary Statistics</a:t>
            </a:r>
          </a:p>
        </p:txBody>
      </p:sp>
      <p:pic>
        <p:nvPicPr>
          <p:cNvPr id="4" name="Picture 3">
            <a:extLst>
              <a:ext uri="{FF2B5EF4-FFF2-40B4-BE49-F238E27FC236}">
                <a16:creationId xmlns:a16="http://schemas.microsoft.com/office/drawing/2014/main" id="{76572FB2-6740-2225-CEFB-1C51BA9BCD00}"/>
              </a:ext>
            </a:extLst>
          </p:cNvPr>
          <p:cNvPicPr>
            <a:picLocks noChangeAspect="1"/>
          </p:cNvPicPr>
          <p:nvPr/>
        </p:nvPicPr>
        <p:blipFill>
          <a:blip r:embed="rId2"/>
          <a:stretch>
            <a:fillRect/>
          </a:stretch>
        </p:blipFill>
        <p:spPr>
          <a:xfrm>
            <a:off x="616745" y="1012723"/>
            <a:ext cx="10958510" cy="4208205"/>
          </a:xfrm>
          <a:prstGeom prst="rect">
            <a:avLst/>
          </a:prstGeom>
        </p:spPr>
      </p:pic>
      <p:sp>
        <p:nvSpPr>
          <p:cNvPr id="5" name="TextBox 4">
            <a:extLst>
              <a:ext uri="{FF2B5EF4-FFF2-40B4-BE49-F238E27FC236}">
                <a16:creationId xmlns:a16="http://schemas.microsoft.com/office/drawing/2014/main" id="{A6946C67-3A40-1D7A-7C7D-D24D333C6CA7}"/>
              </a:ext>
            </a:extLst>
          </p:cNvPr>
          <p:cNvSpPr txBox="1"/>
          <p:nvPr/>
        </p:nvSpPr>
        <p:spPr>
          <a:xfrm>
            <a:off x="422788" y="5574889"/>
            <a:ext cx="8701547" cy="369332"/>
          </a:xfrm>
          <a:prstGeom prst="rect">
            <a:avLst/>
          </a:prstGeom>
          <a:noFill/>
        </p:spPr>
        <p:txBody>
          <a:bodyPr wrap="square" rtlCol="0">
            <a:spAutoFit/>
          </a:bodyPr>
          <a:lstStyle/>
          <a:p>
            <a:r>
              <a:rPr lang="en-US"/>
              <a:t>This step provides statistical information about numerical features in the dataset.</a:t>
            </a:r>
          </a:p>
        </p:txBody>
      </p:sp>
    </p:spTree>
    <p:extLst>
      <p:ext uri="{BB962C8B-B14F-4D97-AF65-F5344CB8AC3E}">
        <p14:creationId xmlns:p14="http://schemas.microsoft.com/office/powerpoint/2010/main" val="23759807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169D8-6536-4AAD-2AFE-5EE7C0854952}"/>
              </a:ext>
            </a:extLst>
          </p:cNvPr>
          <p:cNvSpPr>
            <a:spLocks noGrp="1"/>
          </p:cNvSpPr>
          <p:nvPr>
            <p:ph type="title"/>
          </p:nvPr>
        </p:nvSpPr>
        <p:spPr>
          <a:xfrm>
            <a:off x="314633" y="117988"/>
            <a:ext cx="5112774" cy="678425"/>
          </a:xfrm>
        </p:spPr>
        <p:txBody>
          <a:bodyPr>
            <a:normAutofit/>
          </a:bodyPr>
          <a:lstStyle/>
          <a:p>
            <a:r>
              <a:rPr lang="en-US" sz="2000" b="1"/>
              <a:t>46.Overall Insights from Complete Analysis</a:t>
            </a:r>
          </a:p>
        </p:txBody>
      </p:sp>
      <p:sp>
        <p:nvSpPr>
          <p:cNvPr id="3" name="Content Placeholder 2">
            <a:extLst>
              <a:ext uri="{FF2B5EF4-FFF2-40B4-BE49-F238E27FC236}">
                <a16:creationId xmlns:a16="http://schemas.microsoft.com/office/drawing/2014/main" id="{198518BF-B7E1-B6DB-7AC6-DC4098325A99}"/>
              </a:ext>
            </a:extLst>
          </p:cNvPr>
          <p:cNvSpPr>
            <a:spLocks noGrp="1"/>
          </p:cNvSpPr>
          <p:nvPr>
            <p:ph idx="1"/>
          </p:nvPr>
        </p:nvSpPr>
        <p:spPr>
          <a:xfrm>
            <a:off x="2144661" y="796413"/>
            <a:ext cx="8818307" cy="5830529"/>
          </a:xfrm>
        </p:spPr>
        <p:txBody>
          <a:bodyPr>
            <a:normAutofit fontScale="92500" lnSpcReduction="10000"/>
          </a:bodyPr>
          <a:lstStyle/>
          <a:p>
            <a:r>
              <a:rPr lang="en-US" sz="1900"/>
              <a:t>States with strong technology ecosystems offer more jobs and higher salaries.</a:t>
            </a:r>
            <a:br>
              <a:rPr lang="en-US" sz="1900"/>
            </a:br>
            <a:endParaRPr lang="en-US" sz="1900"/>
          </a:p>
          <a:p>
            <a:r>
              <a:rPr lang="en-US" sz="1900"/>
              <a:t>Candidates with Master’s and PhD degrees receive better compensation.</a:t>
            </a:r>
            <a:br>
              <a:rPr lang="en-US" sz="1900"/>
            </a:br>
            <a:endParaRPr lang="en-US" sz="1900"/>
          </a:p>
          <a:p>
            <a:r>
              <a:rPr lang="en-US" sz="1900"/>
              <a:t>Python, SQL, Cloud, and ML tools are most demanded across job roles.</a:t>
            </a:r>
            <a:br>
              <a:rPr lang="en-US" sz="1900"/>
            </a:br>
            <a:endParaRPr lang="en-US" sz="1900"/>
          </a:p>
          <a:p>
            <a:r>
              <a:rPr lang="en-US" sz="1900"/>
              <a:t>IT, Analytics, and Consulting sectors dominate the job market.</a:t>
            </a:r>
            <a:br>
              <a:rPr lang="en-US" sz="1900"/>
            </a:br>
            <a:endParaRPr lang="en-US" sz="1900"/>
          </a:p>
          <a:p>
            <a:r>
              <a:rPr lang="en-US" sz="1900"/>
              <a:t>Senior-level roles earn higher salaries than junior positions.</a:t>
            </a:r>
            <a:endParaRPr lang="en-US" sz="3000"/>
          </a:p>
          <a:p>
            <a:r>
              <a:rPr lang="en-US" sz="1900"/>
              <a:t>Leading organizations create most job opportunities.</a:t>
            </a:r>
            <a:br>
              <a:rPr lang="en-US" sz="1900"/>
            </a:br>
            <a:endParaRPr lang="en-US" sz="1900"/>
          </a:p>
          <a:p>
            <a:r>
              <a:rPr lang="en-US" sz="1900"/>
              <a:t>New roles like Data Engineer and ML Engineer are increasing.</a:t>
            </a:r>
            <a:br>
              <a:rPr lang="en-US" sz="1900"/>
            </a:br>
            <a:endParaRPr lang="en-US" sz="1900"/>
          </a:p>
          <a:p>
            <a:r>
              <a:rPr lang="en-US" sz="1900"/>
              <a:t>Location, education, skills, industry, and experience together decide salary.</a:t>
            </a:r>
            <a:br>
              <a:rPr lang="en-US" sz="1900"/>
            </a:br>
            <a:endParaRPr lang="en-US" sz="1900"/>
          </a:p>
          <a:p>
            <a:r>
              <a:rPr lang="en-US" sz="1900"/>
              <a:t>Consistent hiring shows increasing importance of data-driven systems.</a:t>
            </a:r>
            <a:br>
              <a:rPr lang="en-US" sz="1900"/>
            </a:br>
            <a:endParaRPr lang="en-US" sz="1900"/>
          </a:p>
          <a:p>
            <a:r>
              <a:rPr lang="en-US" sz="1900"/>
              <a:t>Candidates can move across roles by learning new skills.</a:t>
            </a:r>
          </a:p>
          <a:p>
            <a:r>
              <a:rPr lang="en-US" sz="1900"/>
              <a:t>Overall,the analysis highlights strong growth and long-term demand for data-related roles.</a:t>
            </a:r>
          </a:p>
          <a:p>
            <a:endParaRPr lang="en-US"/>
          </a:p>
        </p:txBody>
      </p:sp>
    </p:spTree>
    <p:extLst>
      <p:ext uri="{BB962C8B-B14F-4D97-AF65-F5344CB8AC3E}">
        <p14:creationId xmlns:p14="http://schemas.microsoft.com/office/powerpoint/2010/main" val="25017277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6ED830A-8E05-C1F1-53FB-A3709A4A1800}"/>
              </a:ext>
            </a:extLst>
          </p:cNvPr>
          <p:cNvPicPr>
            <a:picLocks noChangeAspect="1"/>
          </p:cNvPicPr>
          <p:nvPr/>
        </p:nvPicPr>
        <p:blipFill>
          <a:blip r:embed="rId2"/>
          <a:stretch>
            <a:fillRect/>
          </a:stretch>
        </p:blipFill>
        <p:spPr>
          <a:xfrm>
            <a:off x="1573161" y="882145"/>
            <a:ext cx="9625780" cy="5430164"/>
          </a:xfrm>
          <a:prstGeom prst="rect">
            <a:avLst/>
          </a:prstGeom>
        </p:spPr>
      </p:pic>
      <p:sp>
        <p:nvSpPr>
          <p:cNvPr id="7" name="TextBox 6">
            <a:extLst>
              <a:ext uri="{FF2B5EF4-FFF2-40B4-BE49-F238E27FC236}">
                <a16:creationId xmlns:a16="http://schemas.microsoft.com/office/drawing/2014/main" id="{176B9015-6962-1D74-ECD6-9633171F6938}"/>
              </a:ext>
            </a:extLst>
          </p:cNvPr>
          <p:cNvSpPr txBox="1"/>
          <p:nvPr/>
        </p:nvSpPr>
        <p:spPr>
          <a:xfrm>
            <a:off x="191728" y="255639"/>
            <a:ext cx="6194323" cy="400110"/>
          </a:xfrm>
          <a:prstGeom prst="rect">
            <a:avLst/>
          </a:prstGeom>
          <a:noFill/>
        </p:spPr>
        <p:txBody>
          <a:bodyPr wrap="square" rtlCol="0">
            <a:spAutoFit/>
          </a:bodyPr>
          <a:lstStyle/>
          <a:p>
            <a:r>
              <a:rPr lang="en-US" sz="2000" b="1"/>
              <a:t>47.Job Market and Salary Insights – Power BI Dashboard</a:t>
            </a:r>
          </a:p>
        </p:txBody>
      </p:sp>
    </p:spTree>
    <p:extLst>
      <p:ext uri="{BB962C8B-B14F-4D97-AF65-F5344CB8AC3E}">
        <p14:creationId xmlns:p14="http://schemas.microsoft.com/office/powerpoint/2010/main" val="27032785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F4560-FA94-65F2-6003-4EEA54EC7DB0}"/>
              </a:ext>
            </a:extLst>
          </p:cNvPr>
          <p:cNvSpPr>
            <a:spLocks noGrp="1"/>
          </p:cNvSpPr>
          <p:nvPr>
            <p:ph type="title"/>
          </p:nvPr>
        </p:nvSpPr>
        <p:spPr>
          <a:xfrm>
            <a:off x="245806" y="153552"/>
            <a:ext cx="1756286" cy="606143"/>
          </a:xfrm>
        </p:spPr>
        <p:txBody>
          <a:bodyPr>
            <a:normAutofit/>
          </a:bodyPr>
          <a:lstStyle/>
          <a:p>
            <a:r>
              <a:rPr lang="en-US" sz="2000" b="1"/>
              <a:t>48.Key Insights</a:t>
            </a:r>
            <a:endParaRPr lang="en-US"/>
          </a:p>
        </p:txBody>
      </p:sp>
      <p:sp>
        <p:nvSpPr>
          <p:cNvPr id="3" name="Content Placeholder 2">
            <a:extLst>
              <a:ext uri="{FF2B5EF4-FFF2-40B4-BE49-F238E27FC236}">
                <a16:creationId xmlns:a16="http://schemas.microsoft.com/office/drawing/2014/main" id="{547AAA52-4D59-A34A-62E6-8A1CA83DCF79}"/>
              </a:ext>
            </a:extLst>
          </p:cNvPr>
          <p:cNvSpPr>
            <a:spLocks noGrp="1"/>
          </p:cNvSpPr>
          <p:nvPr>
            <p:ph idx="1"/>
          </p:nvPr>
        </p:nvSpPr>
        <p:spPr>
          <a:xfrm>
            <a:off x="1728633" y="879564"/>
            <a:ext cx="8734733" cy="5098872"/>
          </a:xfrm>
        </p:spPr>
        <p:txBody>
          <a:bodyPr>
            <a:normAutofit/>
          </a:bodyPr>
          <a:lstStyle/>
          <a:p>
            <a:r>
              <a:rPr lang="en-US" sz="2000" b="1"/>
              <a:t>Salary Distribution</a:t>
            </a:r>
            <a:endParaRPr lang="en-US" sz="2200" b="1"/>
          </a:p>
          <a:p>
            <a:r>
              <a:rPr lang="en-US" sz="1800"/>
              <a:t>Most jobs fall in the medium salary range.</a:t>
            </a:r>
          </a:p>
          <a:p>
            <a:r>
              <a:rPr lang="en-US" sz="1800"/>
              <a:t>Very high-paying jobs are limited.</a:t>
            </a:r>
          </a:p>
          <a:p>
            <a:r>
              <a:rPr lang="en-US" sz="1800"/>
              <a:t>Entry-level salaries are lower compared to experienced roles.</a:t>
            </a:r>
          </a:p>
          <a:p>
            <a:r>
              <a:rPr lang="en-US" sz="1800"/>
              <a:t>Salary varies significantly based on role and skills.</a:t>
            </a:r>
          </a:p>
          <a:p>
            <a:r>
              <a:rPr lang="en-US" sz="1800"/>
              <a:t>Few top positions offer premium packages.</a:t>
            </a:r>
          </a:p>
          <a:p>
            <a:endParaRPr lang="en-US" sz="2100"/>
          </a:p>
          <a:p>
            <a:r>
              <a:rPr lang="en-US" sz="2000" b="1"/>
              <a:t>Salary vs Education</a:t>
            </a:r>
          </a:p>
          <a:p>
            <a:r>
              <a:rPr lang="en-US" sz="1800"/>
              <a:t>Candidates with Master’s and PhD degrees earn higher salaries.</a:t>
            </a:r>
          </a:p>
          <a:p>
            <a:r>
              <a:rPr lang="en-US" sz="1800"/>
              <a:t>Graduates receive moderate salary packages.</a:t>
            </a:r>
          </a:p>
          <a:p>
            <a:r>
              <a:rPr lang="en-US" sz="1800"/>
              <a:t>Higher education improves chances of better pay.</a:t>
            </a:r>
          </a:p>
          <a:p>
            <a:r>
              <a:rPr lang="en-US" sz="1800"/>
              <a:t>Education plays an important role in career growth.</a:t>
            </a:r>
          </a:p>
          <a:p>
            <a:r>
              <a:rPr lang="en-US" sz="1800"/>
              <a:t>Specialized degrees are more valued.</a:t>
            </a:r>
          </a:p>
          <a:p>
            <a:endParaRPr lang="en-US"/>
          </a:p>
        </p:txBody>
      </p:sp>
    </p:spTree>
    <p:extLst>
      <p:ext uri="{BB962C8B-B14F-4D97-AF65-F5344CB8AC3E}">
        <p14:creationId xmlns:p14="http://schemas.microsoft.com/office/powerpoint/2010/main" val="41946139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73EC409-2A15-5CAC-11BA-8727647BCD60}"/>
              </a:ext>
            </a:extLst>
          </p:cNvPr>
          <p:cNvSpPr>
            <a:spLocks noGrp="1"/>
          </p:cNvSpPr>
          <p:nvPr>
            <p:ph idx="1"/>
          </p:nvPr>
        </p:nvSpPr>
        <p:spPr>
          <a:xfrm>
            <a:off x="2342536" y="194187"/>
            <a:ext cx="7804355" cy="6469626"/>
          </a:xfrm>
        </p:spPr>
        <p:txBody>
          <a:bodyPr>
            <a:normAutofit fontScale="40000" lnSpcReduction="20000"/>
          </a:bodyPr>
          <a:lstStyle/>
          <a:p>
            <a:r>
              <a:rPr lang="en-US" sz="5000" b="1"/>
              <a:t>Average Salary by Industry</a:t>
            </a:r>
          </a:p>
          <a:p>
            <a:r>
              <a:rPr lang="en-US" sz="4500"/>
              <a:t>IT and Analytics industries offer the highest salaries.</a:t>
            </a:r>
          </a:p>
          <a:p>
            <a:r>
              <a:rPr lang="en-US" sz="4500"/>
              <a:t>Finance and Healthcare sectors are growing steadily.</a:t>
            </a:r>
          </a:p>
          <a:p>
            <a:r>
              <a:rPr lang="en-US" sz="4500"/>
              <a:t>Manufacturing and traditional sectors offer lower pay.</a:t>
            </a:r>
          </a:p>
          <a:p>
            <a:r>
              <a:rPr lang="en-US" sz="4500"/>
              <a:t>Technology-based industries pay more.</a:t>
            </a:r>
          </a:p>
          <a:p>
            <a:r>
              <a:rPr lang="en-US" sz="4500"/>
              <a:t>High-growth industries attract skilled professionals.</a:t>
            </a:r>
          </a:p>
          <a:p>
            <a:endParaRPr lang="en-US" sz="3800"/>
          </a:p>
          <a:p>
            <a:r>
              <a:rPr lang="en-US" sz="4200" b="1"/>
              <a:t> </a:t>
            </a:r>
            <a:r>
              <a:rPr lang="en-US" sz="5000" b="1"/>
              <a:t>Machine Learning Engineers are in high demand</a:t>
            </a:r>
            <a:endParaRPr lang="en-US" sz="4200" b="1"/>
          </a:p>
          <a:p>
            <a:r>
              <a:rPr lang="en-US" sz="4500"/>
              <a:t>Data Scientist and Data Analyst roles have maximum openings.</a:t>
            </a:r>
          </a:p>
          <a:p>
            <a:r>
              <a:rPr lang="en-US" sz="4500"/>
              <a:t>Machine Learning Engineer is in high demand.</a:t>
            </a:r>
          </a:p>
          <a:p>
            <a:r>
              <a:rPr lang="en-US" sz="4500"/>
              <a:t>Demand for AI-related roles is increasing.</a:t>
            </a:r>
          </a:p>
          <a:p>
            <a:r>
              <a:rPr lang="en-US" sz="4500"/>
              <a:t>Entry-level roles are fewer than mid-level roles.</a:t>
            </a:r>
          </a:p>
          <a:p>
            <a:r>
              <a:rPr lang="en-US" sz="4500"/>
              <a:t>Specialized job roles have better opportunities.</a:t>
            </a:r>
          </a:p>
          <a:p>
            <a:endParaRPr lang="en-US" sz="2900"/>
          </a:p>
          <a:p>
            <a:r>
              <a:rPr lang="en-US" sz="5000" b="1"/>
              <a:t>Skills Demand Across Job Roles</a:t>
            </a:r>
          </a:p>
          <a:p>
            <a:r>
              <a:rPr lang="en-US" sz="4500"/>
              <a:t>Python is the most demanded skill.</a:t>
            </a:r>
          </a:p>
          <a:p>
            <a:r>
              <a:rPr lang="en-US" sz="4500"/>
              <a:t>SQL and AWS are widely required.</a:t>
            </a:r>
          </a:p>
          <a:p>
            <a:r>
              <a:rPr lang="en-US" sz="4500"/>
              <a:t>Excel is important for analysis roles.</a:t>
            </a:r>
          </a:p>
          <a:p>
            <a:r>
              <a:rPr lang="en-US" sz="4500"/>
              <a:t>Multiple skills increase employability.</a:t>
            </a:r>
          </a:p>
          <a:p>
            <a:r>
              <a:rPr lang="en-US" sz="4500"/>
              <a:t>Cloud and ML skills are highly valued.</a:t>
            </a:r>
          </a:p>
          <a:p>
            <a:endParaRPr lang="en-US"/>
          </a:p>
        </p:txBody>
      </p:sp>
    </p:spTree>
    <p:extLst>
      <p:ext uri="{BB962C8B-B14F-4D97-AF65-F5344CB8AC3E}">
        <p14:creationId xmlns:p14="http://schemas.microsoft.com/office/powerpoint/2010/main" val="17411792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F435D-3595-A13F-5CB6-93B8FA738D6E}"/>
              </a:ext>
            </a:extLst>
          </p:cNvPr>
          <p:cNvSpPr>
            <a:spLocks noGrp="1"/>
          </p:cNvSpPr>
          <p:nvPr>
            <p:ph type="title"/>
          </p:nvPr>
        </p:nvSpPr>
        <p:spPr>
          <a:xfrm>
            <a:off x="383458" y="341824"/>
            <a:ext cx="3923071" cy="678426"/>
          </a:xfrm>
        </p:spPr>
        <p:txBody>
          <a:bodyPr>
            <a:normAutofit/>
          </a:bodyPr>
          <a:lstStyle/>
          <a:p>
            <a:r>
              <a:rPr lang="en-US" sz="2000" b="1"/>
              <a:t>49.SUGGESTIONS TO THE COMPANY</a:t>
            </a:r>
            <a:endParaRPr lang="en-US"/>
          </a:p>
        </p:txBody>
      </p:sp>
      <p:sp>
        <p:nvSpPr>
          <p:cNvPr id="3" name="Content Placeholder 2">
            <a:extLst>
              <a:ext uri="{FF2B5EF4-FFF2-40B4-BE49-F238E27FC236}">
                <a16:creationId xmlns:a16="http://schemas.microsoft.com/office/drawing/2014/main" id="{553CD889-2649-AF31-8CFA-EB9E3D9C85F0}"/>
              </a:ext>
            </a:extLst>
          </p:cNvPr>
          <p:cNvSpPr>
            <a:spLocks noGrp="1"/>
          </p:cNvSpPr>
          <p:nvPr>
            <p:ph idx="1"/>
          </p:nvPr>
        </p:nvSpPr>
        <p:spPr>
          <a:xfrm>
            <a:off x="2027903" y="1167734"/>
            <a:ext cx="9023555" cy="5495926"/>
          </a:xfrm>
        </p:spPr>
        <p:txBody>
          <a:bodyPr>
            <a:normAutofit/>
          </a:bodyPr>
          <a:lstStyle/>
          <a:p>
            <a:r>
              <a:rPr lang="en-US" sz="2400" b="1"/>
              <a:t>For Better Hiring</a:t>
            </a:r>
          </a:p>
          <a:p>
            <a:r>
              <a:rPr lang="en-US" sz="1900"/>
              <a:t>Focus on hiring candidates with strong technical skills like Python, SQL, and AWS.</a:t>
            </a:r>
          </a:p>
          <a:p>
            <a:r>
              <a:rPr lang="en-US" sz="1900"/>
              <a:t>Offer competitive salaries to attract skilled professionals.</a:t>
            </a:r>
          </a:p>
          <a:p>
            <a:r>
              <a:rPr lang="en-US" sz="1900"/>
              <a:t>Provide training programs for emerging technologies.</a:t>
            </a:r>
          </a:p>
          <a:p>
            <a:r>
              <a:rPr lang="en-US" sz="1900"/>
              <a:t>Increase recruitment in high-growth industries.</a:t>
            </a:r>
          </a:p>
          <a:p>
            <a:r>
              <a:rPr lang="en-US" sz="1900"/>
              <a:t>Support employees for higher education and certifications.</a:t>
            </a:r>
          </a:p>
          <a:p>
            <a:pPr marL="0" indent="0">
              <a:buNone/>
            </a:pPr>
            <a:endParaRPr lang="en-US" sz="1900"/>
          </a:p>
          <a:p>
            <a:r>
              <a:rPr lang="en-US" sz="2200" b="1"/>
              <a:t> For Business Growth</a:t>
            </a:r>
          </a:p>
          <a:p>
            <a:r>
              <a:rPr lang="en-US" sz="1800"/>
              <a:t>Invest more in data science and AI teams.</a:t>
            </a:r>
          </a:p>
          <a:p>
            <a:r>
              <a:rPr lang="en-US" sz="1800"/>
              <a:t>Retain skilled employees with good incentives.</a:t>
            </a:r>
          </a:p>
          <a:p>
            <a:r>
              <a:rPr lang="en-US" sz="1800"/>
              <a:t>Improve learning and development opportunities.</a:t>
            </a:r>
          </a:p>
          <a:p>
            <a:r>
              <a:rPr lang="en-US" sz="1800"/>
              <a:t>Encourage multi-skilled workforce.</a:t>
            </a:r>
          </a:p>
          <a:p>
            <a:r>
              <a:rPr lang="en-US" sz="1800"/>
              <a:t>Use analytics for better decision-making.</a:t>
            </a:r>
          </a:p>
          <a:p>
            <a:endParaRPr lang="en-US"/>
          </a:p>
        </p:txBody>
      </p:sp>
    </p:spTree>
    <p:extLst>
      <p:ext uri="{BB962C8B-B14F-4D97-AF65-F5344CB8AC3E}">
        <p14:creationId xmlns:p14="http://schemas.microsoft.com/office/powerpoint/2010/main" val="17792561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CE47E-A0CA-B5AC-96DF-F0DB542E0FB9}"/>
              </a:ext>
            </a:extLst>
          </p:cNvPr>
          <p:cNvSpPr>
            <a:spLocks noGrp="1"/>
          </p:cNvSpPr>
          <p:nvPr>
            <p:ph type="title"/>
          </p:nvPr>
        </p:nvSpPr>
        <p:spPr>
          <a:xfrm>
            <a:off x="385917" y="391215"/>
            <a:ext cx="2396613" cy="579643"/>
          </a:xfrm>
        </p:spPr>
        <p:txBody>
          <a:bodyPr>
            <a:normAutofit/>
          </a:bodyPr>
          <a:lstStyle/>
          <a:p>
            <a:r>
              <a:rPr lang="en-US" sz="2000" b="1"/>
              <a:t>50.FUTURE SCOPE</a:t>
            </a:r>
            <a:endParaRPr lang="en-US" sz="2000"/>
          </a:p>
        </p:txBody>
      </p:sp>
      <p:sp>
        <p:nvSpPr>
          <p:cNvPr id="3" name="Content Placeholder 2">
            <a:extLst>
              <a:ext uri="{FF2B5EF4-FFF2-40B4-BE49-F238E27FC236}">
                <a16:creationId xmlns:a16="http://schemas.microsoft.com/office/drawing/2014/main" id="{DE022E28-D5FE-DDC6-DDB5-B4E5494EAE35}"/>
              </a:ext>
            </a:extLst>
          </p:cNvPr>
          <p:cNvSpPr>
            <a:spLocks noGrp="1"/>
          </p:cNvSpPr>
          <p:nvPr>
            <p:ph idx="1"/>
          </p:nvPr>
        </p:nvSpPr>
        <p:spPr>
          <a:xfrm>
            <a:off x="857865" y="1138007"/>
            <a:ext cx="10891683" cy="5206105"/>
          </a:xfrm>
        </p:spPr>
        <p:txBody>
          <a:bodyPr>
            <a:normAutofit fontScale="92500" lnSpcReduction="20000"/>
          </a:bodyPr>
          <a:lstStyle/>
          <a:p>
            <a:pPr marL="0" indent="0">
              <a:buNone/>
            </a:pPr>
            <a:r>
              <a:rPr lang="en-US" sz="1900"/>
              <a:t>This project can be extended further to provide more detailed and accurate job market analysis in the future.</a:t>
            </a:r>
          </a:p>
          <a:p>
            <a:pPr marL="0" indent="0">
              <a:buNone/>
            </a:pPr>
            <a:endParaRPr lang="en-US" sz="1900"/>
          </a:p>
          <a:p>
            <a:r>
              <a:rPr lang="en-US" sz="1900"/>
              <a:t>The dataset can be updated regularly with new job postings to analyze real-time job market trends.</a:t>
            </a:r>
          </a:p>
          <a:p>
            <a:r>
              <a:rPr lang="en-US" sz="1900"/>
              <a:t>More features such as work experience, remote jobs, company benefits, and job satisfaction can be included for deeper analysis.</a:t>
            </a:r>
          </a:p>
          <a:p>
            <a:r>
              <a:rPr lang="en-US" sz="1900"/>
              <a:t>Advanced analytics and machine learning models can be applied to predict future salary trends and job demand.</a:t>
            </a:r>
          </a:p>
          <a:p>
            <a:r>
              <a:rPr lang="en-US" sz="1900"/>
              <a:t>Integration with online job portals can help in collecting live data automatically.</a:t>
            </a:r>
          </a:p>
          <a:p>
            <a:r>
              <a:rPr lang="en-US" sz="1900"/>
              <a:t>The dashboard can be enhanced with more interactive features and mobile support.</a:t>
            </a:r>
          </a:p>
          <a:p>
            <a:r>
              <a:rPr lang="en-US" sz="1900"/>
              <a:t>Regional and international job market comparisons can be added for global analysis.</a:t>
            </a:r>
          </a:p>
          <a:p>
            <a:r>
              <a:rPr lang="en-US" sz="1900"/>
              <a:t>Skill gap analysis can be developed to suggest personalized learning paths for job seekers.</a:t>
            </a:r>
          </a:p>
          <a:p>
            <a:r>
              <a:rPr lang="en-US" sz="1900"/>
              <a:t>Artificial Intelligence tools can be used to recommend suitable jobs based on candidate profiles.</a:t>
            </a:r>
          </a:p>
          <a:p>
            <a:r>
              <a:rPr lang="en-US" sz="1900"/>
              <a:t>Company performance and employee retention data can be included for better business insights.</a:t>
            </a:r>
          </a:p>
          <a:p>
            <a:r>
              <a:rPr lang="en-US" sz="1900"/>
              <a:t>Cloud-based deployment can be implemented for easy access by multiple users.</a:t>
            </a:r>
          </a:p>
          <a:p>
            <a:r>
              <a:rPr lang="en-US" sz="1900"/>
              <a:t>This project can be scaled for real-time descision-making in recruitment and workforce planning.</a:t>
            </a:r>
          </a:p>
          <a:p>
            <a:pPr marL="0" indent="0">
              <a:buNone/>
            </a:pPr>
            <a:br>
              <a:rPr lang="en-US"/>
            </a:br>
            <a:endParaRPr lang="en-US"/>
          </a:p>
          <a:p>
            <a:endParaRPr lang="en-US"/>
          </a:p>
        </p:txBody>
      </p:sp>
    </p:spTree>
    <p:extLst>
      <p:ext uri="{BB962C8B-B14F-4D97-AF65-F5344CB8AC3E}">
        <p14:creationId xmlns:p14="http://schemas.microsoft.com/office/powerpoint/2010/main" val="21602004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06AA96-604F-1F4E-1D85-0F36EFEB2335}"/>
              </a:ext>
            </a:extLst>
          </p:cNvPr>
          <p:cNvSpPr txBox="1"/>
          <p:nvPr/>
        </p:nvSpPr>
        <p:spPr>
          <a:xfrm>
            <a:off x="304801" y="255639"/>
            <a:ext cx="3048000" cy="400110"/>
          </a:xfrm>
          <a:prstGeom prst="rect">
            <a:avLst/>
          </a:prstGeom>
          <a:noFill/>
        </p:spPr>
        <p:txBody>
          <a:bodyPr wrap="square" rtlCol="0">
            <a:spAutoFit/>
          </a:bodyPr>
          <a:lstStyle/>
          <a:p>
            <a:r>
              <a:rPr lang="en-US" sz="2000" b="1"/>
              <a:t>51.PROJECT CONCLUSION</a:t>
            </a:r>
          </a:p>
        </p:txBody>
      </p:sp>
      <p:sp>
        <p:nvSpPr>
          <p:cNvPr id="4" name="TextBox 3">
            <a:extLst>
              <a:ext uri="{FF2B5EF4-FFF2-40B4-BE49-F238E27FC236}">
                <a16:creationId xmlns:a16="http://schemas.microsoft.com/office/drawing/2014/main" id="{90AE20B6-5E48-C534-C460-62A3855A9132}"/>
              </a:ext>
            </a:extLst>
          </p:cNvPr>
          <p:cNvSpPr txBox="1"/>
          <p:nvPr/>
        </p:nvSpPr>
        <p:spPr>
          <a:xfrm>
            <a:off x="835742" y="1074027"/>
            <a:ext cx="10500852" cy="3693319"/>
          </a:xfrm>
          <a:prstGeom prst="rect">
            <a:avLst/>
          </a:prstGeom>
          <a:noFill/>
        </p:spPr>
        <p:txBody>
          <a:bodyPr wrap="square">
            <a:spAutoFit/>
          </a:bodyPr>
          <a:lstStyle/>
          <a:p>
            <a:pPr>
              <a:buNone/>
            </a:pPr>
            <a:r>
              <a:rPr lang="en-US"/>
              <a:t>This project analyzed the job market trends using real-world job posting data. The dataset was processed and analyzed using SQL, Python, and visualized using Power BI. Various factors such as salary, education, industry, job roles, and skills were studied.</a:t>
            </a:r>
          </a:p>
          <a:p>
            <a:pPr>
              <a:buNone/>
            </a:pPr>
            <a:r>
              <a:rPr lang="en-US"/>
              <a:t>The analysis showed that IT and Analytics industries offer higher salaries compared to traditional sectors. Candidates with higher education qualifications such as Master’s and PhD receive better salary packages. Job roles like Data Scientist and Machine Learning Engineer have the highest demand in the market.</a:t>
            </a:r>
          </a:p>
          <a:p>
            <a:pPr>
              <a:buNone/>
            </a:pPr>
            <a:r>
              <a:rPr lang="en-US"/>
              <a:t>Skill analysis revealed that Python, SQL, and Cloud technologies are the most important skills for data-related jobs. Candidates with multiple technical skills have better career opportunities and higher earning potential.</a:t>
            </a:r>
          </a:p>
          <a:p>
            <a:pPr>
              <a:buNone/>
            </a:pPr>
            <a:r>
              <a:rPr lang="en-US"/>
              <a:t>The Power BI dashboard provided interactive visualizations which helped in understanding job market patterns clearly. It enables employers and job seekers to make data-driven decisions.</a:t>
            </a:r>
          </a:p>
          <a:p>
            <a:pPr>
              <a:buNone/>
            </a:pPr>
            <a:r>
              <a:rPr lang="en-US"/>
              <a:t>Overall, this project successfully identifies key trends, skill requirements, and employment opportunities in the data science job market. The insights and recommendations can help companies improve hiring strategies and help job seekers plan their careers effectively.</a:t>
            </a:r>
          </a:p>
        </p:txBody>
      </p:sp>
    </p:spTree>
    <p:extLst>
      <p:ext uri="{BB962C8B-B14F-4D97-AF65-F5344CB8AC3E}">
        <p14:creationId xmlns:p14="http://schemas.microsoft.com/office/powerpoint/2010/main" val="4043278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D32C5-28DD-E32D-87BF-DAF8E2F26224}"/>
              </a:ext>
            </a:extLst>
          </p:cNvPr>
          <p:cNvSpPr>
            <a:spLocks noGrp="1"/>
          </p:cNvSpPr>
          <p:nvPr>
            <p:ph type="title"/>
          </p:nvPr>
        </p:nvSpPr>
        <p:spPr>
          <a:xfrm>
            <a:off x="612058" y="2302079"/>
            <a:ext cx="10515600" cy="1325563"/>
          </a:xfrm>
        </p:spPr>
        <p:txBody>
          <a:bodyPr>
            <a:noAutofit/>
          </a:bodyPr>
          <a:lstStyle/>
          <a:p>
            <a:r>
              <a:rPr lang="en-US" sz="9600"/>
              <a:t>         Thank You</a:t>
            </a:r>
          </a:p>
        </p:txBody>
      </p:sp>
    </p:spTree>
    <p:extLst>
      <p:ext uri="{BB962C8B-B14F-4D97-AF65-F5344CB8AC3E}">
        <p14:creationId xmlns:p14="http://schemas.microsoft.com/office/powerpoint/2010/main" val="33480130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742</TotalTime>
  <Words>2719</Words>
  <Application>Microsoft Office PowerPoint</Application>
  <PresentationFormat>Widescreen</PresentationFormat>
  <Paragraphs>234</Paragraphs>
  <Slides>52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52</vt:i4>
      </vt:variant>
    </vt:vector>
  </HeadingPairs>
  <TitlesOfParts>
    <vt:vector size="56" baseType="lpstr">
      <vt:lpstr>Arial</vt:lpstr>
      <vt:lpstr>Calibri</vt:lpstr>
      <vt:lpstr>Calibri Light</vt:lpstr>
      <vt:lpstr>Office Theme</vt:lpstr>
      <vt:lpstr>Job market analysis(PRDA-04)  Submitted by: Laxmi Kaddoni  Tools Used: mysql | jupyter Notebook | Power BI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15.Insights from State-wise Salary Analysis</vt:lpstr>
      <vt:lpstr>PowerPoint Presentation</vt:lpstr>
      <vt:lpstr>PowerPoint Presentation</vt:lpstr>
      <vt:lpstr>PowerPoint Presentation</vt:lpstr>
      <vt:lpstr>19.Insights from State-wise Average Salary Analysis</vt:lpstr>
      <vt:lpstr>PowerPoint Presentation</vt:lpstr>
      <vt:lpstr>PowerPoint Presentation</vt:lpstr>
      <vt:lpstr>PowerPoint Presentation</vt:lpstr>
      <vt:lpstr>23.Insights from Industry-wise Job Analysis</vt:lpstr>
      <vt:lpstr>PowerPoint Presentation</vt:lpstr>
      <vt:lpstr>PowerPoint Presentation</vt:lpstr>
      <vt:lpstr>PowerPoint Presentation</vt:lpstr>
      <vt:lpstr>27.Insights from Company-wise Job Analysis</vt:lpstr>
      <vt:lpstr>PowerPoint Presentation</vt:lpstr>
      <vt:lpstr>PowerPoint Presentation</vt:lpstr>
      <vt:lpstr>PowerPoint Presentation</vt:lpstr>
      <vt:lpstr> 31.Insights from Job Title Analysis </vt:lpstr>
      <vt:lpstr>PowerPoint Presentation</vt:lpstr>
      <vt:lpstr>PowerPoint Presentation</vt:lpstr>
      <vt:lpstr>PowerPoint Presentation</vt:lpstr>
      <vt:lpstr>35.Insights from Job Title Salary Analysis</vt:lpstr>
      <vt:lpstr>PowerPoint Presentation</vt:lpstr>
      <vt:lpstr>PowerPoint Presentation</vt:lpstr>
      <vt:lpstr>PowerPoint Presentation</vt:lpstr>
      <vt:lpstr>PowerPoint Presentation</vt:lpstr>
      <vt:lpstr>40.Insights from Skill Analysis</vt:lpstr>
      <vt:lpstr>PowerPoint Presentation</vt:lpstr>
      <vt:lpstr>PowerPoint Presentation</vt:lpstr>
      <vt:lpstr>PowerPoint Presentation</vt:lpstr>
      <vt:lpstr>44.Insights from Education vs Salary Analysis</vt:lpstr>
      <vt:lpstr>PowerPoint Presentation</vt:lpstr>
      <vt:lpstr>46.Overall Insights from Complete Analysis</vt:lpstr>
      <vt:lpstr>PowerPoint Presentation</vt:lpstr>
      <vt:lpstr>48.Key Insights</vt:lpstr>
      <vt:lpstr>PowerPoint Presentation</vt:lpstr>
      <vt:lpstr>49.SUGGESTIONS TO THE COMPANY</vt:lpstr>
      <vt:lpstr>50.FUTURE SCOPE</vt:lpstr>
      <vt:lpstr>PowerPoint Presentation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laxmi</dc:creator>
  <cp:lastModifiedBy>laxmi</cp:lastModifiedBy>
  <cp:revision>30</cp:revision>
  <dcterms:created xsi:type="dcterms:W3CDTF">2026-02-01T16:29:38Z</dcterms:created>
  <dcterms:modified xsi:type="dcterms:W3CDTF">2026-02-05T06:56:23Z</dcterms:modified>
</cp:coreProperties>
</file>